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7" r:id="rId1"/>
    <p:sldMasterId id="2147483688" r:id="rId2"/>
  </p:sldMasterIdLst>
  <p:notesMasterIdLst>
    <p:notesMasterId r:id="rId35"/>
  </p:notesMasterIdLst>
  <p:sldIdLst>
    <p:sldId id="256" r:id="rId3"/>
    <p:sldId id="257" r:id="rId4"/>
    <p:sldId id="310" r:id="rId5"/>
    <p:sldId id="335" r:id="rId6"/>
    <p:sldId id="327" r:id="rId7"/>
    <p:sldId id="328" r:id="rId8"/>
    <p:sldId id="312" r:id="rId9"/>
    <p:sldId id="336" r:id="rId10"/>
    <p:sldId id="337" r:id="rId11"/>
    <p:sldId id="332" r:id="rId12"/>
    <p:sldId id="330" r:id="rId13"/>
    <p:sldId id="319" r:id="rId14"/>
    <p:sldId id="318" r:id="rId15"/>
    <p:sldId id="338" r:id="rId16"/>
    <p:sldId id="339" r:id="rId17"/>
    <p:sldId id="340" r:id="rId18"/>
    <p:sldId id="333" r:id="rId19"/>
    <p:sldId id="325" r:id="rId20"/>
    <p:sldId id="341" r:id="rId21"/>
    <p:sldId id="342" r:id="rId22"/>
    <p:sldId id="343" r:id="rId23"/>
    <p:sldId id="344" r:id="rId24"/>
    <p:sldId id="345" r:id="rId25"/>
    <p:sldId id="346" r:id="rId26"/>
    <p:sldId id="347" r:id="rId27"/>
    <p:sldId id="348" r:id="rId28"/>
    <p:sldId id="349" r:id="rId29"/>
    <p:sldId id="350" r:id="rId30"/>
    <p:sldId id="351" r:id="rId31"/>
    <p:sldId id="353" r:id="rId32"/>
    <p:sldId id="352" r:id="rId33"/>
    <p:sldId id="309" r:id="rId34"/>
  </p:sldIdLst>
  <p:sldSz cx="12192000" cy="6858000"/>
  <p:notesSz cx="6858000" cy="9144000"/>
  <p:embeddedFontLst>
    <p:embeddedFont>
      <p:font typeface="Libre Franklin" panose="020B0604020202020204" charset="0"/>
      <p:regular r:id="rId36"/>
      <p:bold r:id="rId37"/>
      <p:italic r:id="rId38"/>
      <p:boldItalic r:id="rId39"/>
    </p:embeddedFont>
    <p:embeddedFont>
      <p:font typeface="Calibri" panose="020F0502020204030204" pitchFamily="34" charset="0"/>
      <p:regular r:id="rId40"/>
      <p:bold r:id="rId41"/>
    </p:embeddedFont>
    <p:embeddedFont>
      <p:font typeface="Poppins" panose="020B0604020202020204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78A27E6-7274-4B66-A0D7-9FFFDACD4B5B}">
  <a:tblStyle styleId="{478A27E6-7274-4B66-A0D7-9FFFDACD4B5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</a:tcStyle>
    </a:band1H>
    <a:band2H>
      <a:tcTxStyle/>
      <a:tcStyle>
        <a:tcBdr/>
      </a:tcStyle>
    </a:band2H>
    <a:band1V>
      <a:tcTxStyle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1V>
    <a:band2V>
      <a:tcTxStyle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607" autoAdjust="0"/>
    <p:restoredTop sz="94660"/>
  </p:normalViewPr>
  <p:slideViewPr>
    <p:cSldViewPr snapToGrid="0">
      <p:cViewPr>
        <p:scale>
          <a:sx n="70" d="100"/>
          <a:sy n="70" d="100"/>
        </p:scale>
        <p:origin x="44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4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7.fntdata"/><Relationship Id="rId47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3.fntdata"/><Relationship Id="rId46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1.fntdata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9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Filtering Results</a:t>
            </a:r>
            <a:endParaRPr lang="ar-SY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Sheet1!$I$302:$L$302</c:f>
              <c:strCache>
                <c:ptCount val="4"/>
                <c:pt idx="0">
                  <c:v> FasText Embeddig</c:v>
                </c:pt>
                <c:pt idx="1">
                  <c:v>AraBert</c:v>
                </c:pt>
                <c:pt idx="2">
                  <c:v>mBert</c:v>
                </c:pt>
                <c:pt idx="3">
                  <c:v>TF-IDF</c:v>
                </c:pt>
              </c:strCache>
            </c:strRef>
          </c:cat>
          <c:val>
            <c:numRef>
              <c:f>Sheet1!$I$303:$L$303</c:f>
              <c:numCache>
                <c:formatCode>General</c:formatCode>
                <c:ptCount val="4"/>
                <c:pt idx="0">
                  <c:v>0.84</c:v>
                </c:pt>
                <c:pt idx="1">
                  <c:v>0.83</c:v>
                </c:pt>
                <c:pt idx="2">
                  <c:v>0.84</c:v>
                </c:pt>
                <c:pt idx="3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E7-4BDE-B4A1-73E36A05F0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29399872"/>
        <c:axId val="429395280"/>
      </c:barChart>
      <c:catAx>
        <c:axId val="429399872"/>
        <c:scaling>
          <c:orientation val="maxMin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9395280"/>
        <c:crosses val="autoZero"/>
        <c:auto val="1"/>
        <c:lblAlgn val="ctr"/>
        <c:lblOffset val="100"/>
        <c:noMultiLvlLbl val="0"/>
      </c:catAx>
      <c:valAx>
        <c:axId val="429395280"/>
        <c:scaling>
          <c:orientation val="minMax"/>
        </c:scaling>
        <c:delete val="0"/>
        <c:axPos val="r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93998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865070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3880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695731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54591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440027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492853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265115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179418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248898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47348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165283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38115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040066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739315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65891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238110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9897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701278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208461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189220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9197562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402537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015236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9930178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1679013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9289385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7615469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780498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04486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_3">
  <p:cSld name="cover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>
            <a:spLocks noGrp="1"/>
          </p:cNvSpPr>
          <p:nvPr>
            <p:ph type="title"/>
          </p:nvPr>
        </p:nvSpPr>
        <p:spPr>
          <a:xfrm>
            <a:off x="6245353" y="1720851"/>
            <a:ext cx="5486399" cy="1725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imes New Roman"/>
              <a:buNone/>
              <a:defRPr sz="3000" b="1" i="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body" idx="1"/>
          </p:nvPr>
        </p:nvSpPr>
        <p:spPr>
          <a:xfrm>
            <a:off x="6245353" y="3446327"/>
            <a:ext cx="5484685" cy="1514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None/>
              <a:defRPr sz="2000" b="1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None/>
              <a:defRPr sz="2000" b="1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None/>
              <a:defRPr sz="2000" b="1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None/>
              <a:defRPr sz="2000" b="1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None/>
              <a:defRPr sz="2000" b="1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None/>
              <a:defRPr sz="2000" b="1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None/>
              <a:defRPr sz="2000" b="1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None/>
              <a:defRPr sz="20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body" idx="2"/>
          </p:nvPr>
        </p:nvSpPr>
        <p:spPr>
          <a:xfrm>
            <a:off x="6245353" y="4960353"/>
            <a:ext cx="3846511" cy="1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  <a:defRPr sz="14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14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14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  <a:defRPr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20" name="Google Shape;20;p2" title="hiast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0872" y="1932300"/>
            <a:ext cx="1514025" cy="151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slide">
  <p:cSld name="closing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 txBox="1">
            <a:spLocks noGrp="1"/>
          </p:cNvSpPr>
          <p:nvPr>
            <p:ph type="title"/>
          </p:nvPr>
        </p:nvSpPr>
        <p:spPr>
          <a:xfrm>
            <a:off x="7883525" y="2047739"/>
            <a:ext cx="3846511" cy="1331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731500" bIns="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imes New Roman"/>
              <a:buNone/>
              <a:defRPr sz="4800" b="0" i="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30"/>
          <p:cNvSpPr txBox="1">
            <a:spLocks noGrp="1"/>
          </p:cNvSpPr>
          <p:nvPr>
            <p:ph type="body" idx="1"/>
          </p:nvPr>
        </p:nvSpPr>
        <p:spPr>
          <a:xfrm>
            <a:off x="474662" y="3321415"/>
            <a:ext cx="3563938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sz="12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 b="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  <a:defRPr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0" name="Google Shape;230;p30"/>
          <p:cNvSpPr>
            <a:spLocks noGrp="1"/>
          </p:cNvSpPr>
          <p:nvPr>
            <p:ph type="pic" idx="2"/>
          </p:nvPr>
        </p:nvSpPr>
        <p:spPr>
          <a:xfrm>
            <a:off x="461964" y="2650123"/>
            <a:ext cx="593725" cy="593725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231" name="Google Shape;231;p30"/>
          <p:cNvSpPr txBox="1">
            <a:spLocks noGrp="1"/>
          </p:cNvSpPr>
          <p:nvPr>
            <p:ph type="body" idx="3"/>
          </p:nvPr>
        </p:nvSpPr>
        <p:spPr>
          <a:xfrm>
            <a:off x="474662" y="3915139"/>
            <a:ext cx="5461002" cy="193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sz="12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 b="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  <a:defRPr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2" name="Google Shape;232;p30"/>
          <p:cNvSpPr txBox="1">
            <a:spLocks noGrp="1"/>
          </p:cNvSpPr>
          <p:nvPr>
            <p:ph type="body" idx="4"/>
          </p:nvPr>
        </p:nvSpPr>
        <p:spPr>
          <a:xfrm>
            <a:off x="474661" y="4098242"/>
            <a:ext cx="5473701" cy="702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005825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sz="12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 b="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  <a:defRPr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233" name="Google Shape;233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1962" y="6337889"/>
            <a:ext cx="1673964" cy="210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3col image captions_clay">
  <p:cSld name="content 3col image captions_clay">
    <p:bg>
      <p:bgPr>
        <a:solidFill>
          <a:schemeClr val="accent2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"/>
          <p:cNvSpPr>
            <a:spLocks noGrp="1"/>
          </p:cNvSpPr>
          <p:nvPr>
            <p:ph type="pic" idx="2"/>
          </p:nvPr>
        </p:nvSpPr>
        <p:spPr>
          <a:xfrm>
            <a:off x="8162926" y="1687513"/>
            <a:ext cx="3567111" cy="2356949"/>
          </a:xfrm>
          <a:prstGeom prst="rect">
            <a:avLst/>
          </a:prstGeom>
          <a:solidFill>
            <a:srgbClr val="CCCCCC"/>
          </a:solidFill>
          <a:ln>
            <a:noFill/>
          </a:ln>
        </p:spPr>
      </p:sp>
      <p:sp>
        <p:nvSpPr>
          <p:cNvPr id="236" name="Google Shape;236;p31"/>
          <p:cNvSpPr>
            <a:spLocks noGrp="1"/>
          </p:cNvSpPr>
          <p:nvPr>
            <p:ph type="pic" idx="3"/>
          </p:nvPr>
        </p:nvSpPr>
        <p:spPr>
          <a:xfrm>
            <a:off x="458790" y="1687513"/>
            <a:ext cx="3567110" cy="2356949"/>
          </a:xfrm>
          <a:prstGeom prst="rect">
            <a:avLst/>
          </a:prstGeom>
          <a:solidFill>
            <a:srgbClr val="CCCCCC"/>
          </a:solidFill>
          <a:ln>
            <a:noFill/>
          </a:ln>
        </p:spPr>
      </p:sp>
      <p:sp>
        <p:nvSpPr>
          <p:cNvPr id="237" name="Google Shape;237;p31"/>
          <p:cNvSpPr txBox="1">
            <a:spLocks noGrp="1"/>
          </p:cNvSpPr>
          <p:nvPr>
            <p:ph type="body" idx="1"/>
          </p:nvPr>
        </p:nvSpPr>
        <p:spPr>
          <a:xfrm>
            <a:off x="458788" y="4291013"/>
            <a:ext cx="3567110" cy="1766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0" i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  <a:defRPr sz="1800" b="1" i="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  <a:defRPr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  <a:defRPr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8" name="Google Shape;238;p31"/>
          <p:cNvSpPr>
            <a:spLocks noGrp="1"/>
          </p:cNvSpPr>
          <p:nvPr>
            <p:ph type="pic" idx="4"/>
          </p:nvPr>
        </p:nvSpPr>
        <p:spPr>
          <a:xfrm>
            <a:off x="4312444" y="1687513"/>
            <a:ext cx="3567111" cy="2356949"/>
          </a:xfrm>
          <a:prstGeom prst="rect">
            <a:avLst/>
          </a:prstGeom>
          <a:solidFill>
            <a:srgbClr val="CCCCCC"/>
          </a:solidFill>
          <a:ln>
            <a:noFill/>
          </a:ln>
        </p:spPr>
      </p:sp>
      <p:sp>
        <p:nvSpPr>
          <p:cNvPr id="239" name="Google Shape;239;p31"/>
          <p:cNvSpPr txBox="1">
            <a:spLocks noGrp="1"/>
          </p:cNvSpPr>
          <p:nvPr>
            <p:ph type="title"/>
          </p:nvPr>
        </p:nvSpPr>
        <p:spPr>
          <a:xfrm>
            <a:off x="461964" y="415925"/>
            <a:ext cx="11268074" cy="1015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37160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31"/>
          <p:cNvSpPr txBox="1">
            <a:spLocks noGrp="1"/>
          </p:cNvSpPr>
          <p:nvPr>
            <p:ph type="sldNum" idx="12"/>
          </p:nvPr>
        </p:nvSpPr>
        <p:spPr>
          <a:xfrm>
            <a:off x="11347742" y="6346858"/>
            <a:ext cx="382295" cy="19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1" name="Google Shape;241;p31"/>
          <p:cNvSpPr txBox="1">
            <a:spLocks noGrp="1"/>
          </p:cNvSpPr>
          <p:nvPr>
            <p:ph type="ftr" idx="11"/>
          </p:nvPr>
        </p:nvSpPr>
        <p:spPr>
          <a:xfrm>
            <a:off x="4038600" y="6343650"/>
            <a:ext cx="3844926" cy="2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2" name="Google Shape;242;p31"/>
          <p:cNvSpPr txBox="1">
            <a:spLocks noGrp="1"/>
          </p:cNvSpPr>
          <p:nvPr>
            <p:ph type="body" idx="5"/>
          </p:nvPr>
        </p:nvSpPr>
        <p:spPr>
          <a:xfrm>
            <a:off x="4315893" y="4291013"/>
            <a:ext cx="3567110" cy="1766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0" i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  <a:defRPr sz="1800" b="1" i="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  <a:defRPr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  <a:defRPr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3" name="Google Shape;243;p31"/>
          <p:cNvSpPr txBox="1">
            <a:spLocks noGrp="1"/>
          </p:cNvSpPr>
          <p:nvPr>
            <p:ph type="body" idx="6"/>
          </p:nvPr>
        </p:nvSpPr>
        <p:spPr>
          <a:xfrm>
            <a:off x="8172998" y="4291013"/>
            <a:ext cx="3567110" cy="1766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0" i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  <a:defRPr sz="1800" b="1" i="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  <a:defRPr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  <a:defRPr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244" name="Google Shape;244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1962" y="6337889"/>
            <a:ext cx="1673964" cy="2106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_callout_clay">
  <p:cSld name="content_callout_clay">
    <p:bg>
      <p:bgPr>
        <a:solidFill>
          <a:schemeClr val="lt1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3"/>
          <p:cNvSpPr/>
          <p:nvPr/>
        </p:nvSpPr>
        <p:spPr>
          <a:xfrm>
            <a:off x="0" y="0"/>
            <a:ext cx="40259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82875" tIns="0" rIns="18287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3"/>
          <p:cNvSpPr txBox="1">
            <a:spLocks noGrp="1"/>
          </p:cNvSpPr>
          <p:nvPr>
            <p:ph type="ftr" idx="11"/>
          </p:nvPr>
        </p:nvSpPr>
        <p:spPr>
          <a:xfrm>
            <a:off x="4038600" y="6343650"/>
            <a:ext cx="3844926" cy="2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33"/>
          <p:cNvSpPr txBox="1">
            <a:spLocks noGrp="1"/>
          </p:cNvSpPr>
          <p:nvPr>
            <p:ph type="sldNum" idx="12"/>
          </p:nvPr>
        </p:nvSpPr>
        <p:spPr>
          <a:xfrm>
            <a:off x="11347742" y="6346858"/>
            <a:ext cx="382295" cy="19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6" name="Google Shape;256;p33"/>
          <p:cNvSpPr txBox="1">
            <a:spLocks noGrp="1"/>
          </p:cNvSpPr>
          <p:nvPr>
            <p:ph type="body" idx="1"/>
          </p:nvPr>
        </p:nvSpPr>
        <p:spPr>
          <a:xfrm>
            <a:off x="4308475" y="1687513"/>
            <a:ext cx="7421563" cy="4370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33"/>
          <p:cNvSpPr txBox="1">
            <a:spLocks noGrp="1"/>
          </p:cNvSpPr>
          <p:nvPr>
            <p:ph type="body" idx="2"/>
          </p:nvPr>
        </p:nvSpPr>
        <p:spPr>
          <a:xfrm>
            <a:off x="4308474" y="412750"/>
            <a:ext cx="7421561" cy="1019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 b="1" i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2pPr>
            <a:lvl3pPr marL="1371600" lvl="2" indent="-22860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3pPr>
            <a:lvl4pPr marL="1828800" lvl="3" indent="-22860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4pPr>
            <a:lvl5pPr marL="2286000" lvl="4" indent="-22860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5pPr>
            <a:lvl6pPr marL="2743200" lvl="5" indent="-22860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6pPr>
            <a:lvl7pPr marL="3200400" lvl="6" indent="-22860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7pPr>
            <a:lvl8pPr marL="3657600" lvl="7" indent="-22860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8pPr>
            <a:lvl9pPr marL="4114800" lvl="8" indent="-22860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58" name="Google Shape;258;p33"/>
          <p:cNvSpPr txBox="1">
            <a:spLocks noGrp="1"/>
          </p:cNvSpPr>
          <p:nvPr>
            <p:ph type="body" idx="3"/>
          </p:nvPr>
        </p:nvSpPr>
        <p:spPr>
          <a:xfrm>
            <a:off x="461963" y="1687513"/>
            <a:ext cx="3563937" cy="4370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2860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bri"/>
              <a:buNone/>
              <a:defRPr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  <a:defRPr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–"/>
              <a:defRPr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9" name="Google Shape;259;p33"/>
          <p:cNvSpPr txBox="1">
            <a:spLocks noGrp="1"/>
          </p:cNvSpPr>
          <p:nvPr>
            <p:ph type="title"/>
          </p:nvPr>
        </p:nvSpPr>
        <p:spPr>
          <a:xfrm>
            <a:off x="461964" y="412750"/>
            <a:ext cx="3563936" cy="1019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22860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60" name="Google Shape;260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1962" y="6337889"/>
            <a:ext cx="1673964" cy="2106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table">
  <p:cSld name="content table">
    <p:bg>
      <p:bgPr>
        <a:solidFill>
          <a:schemeClr val="lt1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4"/>
          <p:cNvSpPr txBox="1">
            <a:spLocks noGrp="1"/>
          </p:cNvSpPr>
          <p:nvPr>
            <p:ph type="sldNum" idx="12"/>
          </p:nvPr>
        </p:nvSpPr>
        <p:spPr>
          <a:xfrm>
            <a:off x="11347742" y="6346858"/>
            <a:ext cx="382295" cy="19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 b="0" i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000" b="0" i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000" b="0" i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000" b="0" i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000" b="0" i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000" b="0" i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000" b="0" i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000" b="0" i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000" b="0" i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3" name="Google Shape;263;p34"/>
          <p:cNvSpPr txBox="1">
            <a:spLocks noGrp="1"/>
          </p:cNvSpPr>
          <p:nvPr>
            <p:ph type="ftr" idx="11"/>
          </p:nvPr>
        </p:nvSpPr>
        <p:spPr>
          <a:xfrm>
            <a:off x="4038600" y="6343650"/>
            <a:ext cx="3844926" cy="2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4" name="Google Shape;264;p34"/>
          <p:cNvSpPr txBox="1">
            <a:spLocks noGrp="1"/>
          </p:cNvSpPr>
          <p:nvPr>
            <p:ph type="title"/>
          </p:nvPr>
        </p:nvSpPr>
        <p:spPr>
          <a:xfrm>
            <a:off x="461964" y="415925"/>
            <a:ext cx="11268074" cy="1015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37160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65" name="Google Shape;265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1962" y="6337889"/>
            <a:ext cx="1673964" cy="210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w_full_image">
  <p:cSld name="header w_full_image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5"/>
          <p:cNvSpPr txBox="1">
            <a:spLocks noGrp="1"/>
          </p:cNvSpPr>
          <p:nvPr>
            <p:ph type="sldNum" idx="12"/>
          </p:nvPr>
        </p:nvSpPr>
        <p:spPr>
          <a:xfrm>
            <a:off x="11347742" y="6346858"/>
            <a:ext cx="382295" cy="19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 b="0" i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000" b="0" i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000" b="0" i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000" b="0" i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000" b="0" i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000" b="0" i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000" b="0" i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000" b="0" i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000" b="0" i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8" name="Google Shape;268;p35"/>
          <p:cNvSpPr txBox="1">
            <a:spLocks noGrp="1"/>
          </p:cNvSpPr>
          <p:nvPr>
            <p:ph type="ftr" idx="11"/>
          </p:nvPr>
        </p:nvSpPr>
        <p:spPr>
          <a:xfrm>
            <a:off x="4038600" y="6343650"/>
            <a:ext cx="3844926" cy="2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35"/>
          <p:cNvSpPr txBox="1">
            <a:spLocks noGrp="1"/>
          </p:cNvSpPr>
          <p:nvPr>
            <p:ph type="title"/>
          </p:nvPr>
        </p:nvSpPr>
        <p:spPr>
          <a:xfrm>
            <a:off x="461964" y="415925"/>
            <a:ext cx="11268074" cy="1015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37160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35"/>
          <p:cNvSpPr>
            <a:spLocks noGrp="1"/>
          </p:cNvSpPr>
          <p:nvPr>
            <p:ph type="pic" idx="2"/>
          </p:nvPr>
        </p:nvSpPr>
        <p:spPr>
          <a:xfrm>
            <a:off x="0" y="1427163"/>
            <a:ext cx="12192000" cy="4630737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pic>
        <p:nvPicPr>
          <p:cNvPr id="271" name="Google Shape;271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1962" y="6337889"/>
            <a:ext cx="1673964" cy="210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s instructions">
  <p:cSld name="Layouts instructions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7"/>
          <p:cNvSpPr txBox="1">
            <a:spLocks noGrp="1"/>
          </p:cNvSpPr>
          <p:nvPr>
            <p:ph type="sldNum" idx="12"/>
          </p:nvPr>
        </p:nvSpPr>
        <p:spPr>
          <a:xfrm>
            <a:off x="11347742" y="6346858"/>
            <a:ext cx="382295" cy="19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1" name="Google Shape;281;p37" title="hiast1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7975" y="6179125"/>
            <a:ext cx="528700" cy="5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7"/>
          <p:cNvSpPr txBox="1"/>
          <p:nvPr/>
        </p:nvSpPr>
        <p:spPr>
          <a:xfrm>
            <a:off x="1251225" y="6227925"/>
            <a:ext cx="2017200" cy="431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7F6000"/>
                </a:solidFill>
                <a:latin typeface="Calibri"/>
                <a:ea typeface="Calibri"/>
                <a:cs typeface="Calibri"/>
                <a:sym typeface="Calibri"/>
              </a:rPr>
              <a:t>HIAST</a:t>
            </a:r>
            <a:endParaRPr sz="1600">
              <a:solidFill>
                <a:srgbClr val="7F6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76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61964" y="415925"/>
            <a:ext cx="11268074" cy="1015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37160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Times New Roman"/>
              <a:buNone/>
              <a:defRPr sz="3200" b="1" i="0" u="none" strike="noStrike" cap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61964" y="1720850"/>
            <a:ext cx="11268074" cy="4337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None/>
              <a:defRPr sz="2200" b="1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TR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TR"/>
              <a:buChar char="–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11347742" y="6346858"/>
            <a:ext cx="382295" cy="19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" name="Google Shape;13;p1"/>
          <p:cNvSpPr txBox="1"/>
          <p:nvPr/>
        </p:nvSpPr>
        <p:spPr>
          <a:xfrm>
            <a:off x="7010400" y="76725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25000" lnSpcReduction="2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accent6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4" name="Google Shape;14;p1"/>
          <p:cNvSpPr txBox="1"/>
          <p:nvPr/>
        </p:nvSpPr>
        <p:spPr>
          <a:xfrm>
            <a:off x="8935656" y="174777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25000" lnSpcReduction="2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accent6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" name="Google Shape;15;p1"/>
          <p:cNvSpPr txBox="1">
            <a:spLocks noGrp="1"/>
          </p:cNvSpPr>
          <p:nvPr>
            <p:ph type="ftr" idx="11"/>
          </p:nvPr>
        </p:nvSpPr>
        <p:spPr>
          <a:xfrm>
            <a:off x="4038600" y="6343650"/>
            <a:ext cx="3844926" cy="2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76" r:id="rId2"/>
    <p:sldLayoutId id="2147483677" r:id="rId3"/>
    <p:sldLayoutId id="2147483679" r:id="rId4"/>
    <p:sldLayoutId id="2147483680" r:id="rId5"/>
    <p:sldLayoutId id="2147483681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714">
          <p15:clr>
            <a:srgbClr val="F26B43"/>
          </p15:clr>
        </p15:guide>
        <p15:guide id="2" pos="291">
          <p15:clr>
            <a:srgbClr val="F26B43"/>
          </p15:clr>
        </p15:guide>
        <p15:guide id="3" pos="2536">
          <p15:clr>
            <a:srgbClr val="F26B43"/>
          </p15:clr>
        </p15:guide>
        <p15:guide id="4" pos="3747">
          <p15:clr>
            <a:srgbClr val="F26B43"/>
          </p15:clr>
        </p15:guide>
        <p15:guide id="5" pos="3840">
          <p15:clr>
            <a:srgbClr val="F26B43"/>
          </p15:clr>
        </p15:guide>
        <p15:guide id="6" pos="3933">
          <p15:clr>
            <a:srgbClr val="F26B43"/>
          </p15:clr>
        </p15:guide>
        <p15:guide id="7" pos="7389">
          <p15:clr>
            <a:srgbClr val="F26B43"/>
          </p15:clr>
        </p15:guide>
        <p15:guide id="8" pos="4966">
          <p15:clr>
            <a:srgbClr val="F26B43"/>
          </p15:clr>
        </p15:guide>
        <p15:guide id="9" pos="5144">
          <p15:clr>
            <a:srgbClr val="F26B43"/>
          </p15:clr>
        </p15:guide>
        <p15:guide id="10" orient="horz" pos="1063">
          <p15:clr>
            <a:srgbClr val="F26B43"/>
          </p15:clr>
        </p15:guide>
        <p15:guide id="11" orient="horz" pos="3816">
          <p15:clr>
            <a:srgbClr val="F26B43"/>
          </p15:clr>
        </p15:guide>
        <p15:guide id="12" orient="horz" pos="3996">
          <p15:clr>
            <a:srgbClr val="F26B43"/>
          </p15:clr>
        </p15:guide>
        <p15:guide id="13" orient="horz" pos="899">
          <p15:clr>
            <a:srgbClr val="F26B43"/>
          </p15:clr>
        </p15:guide>
        <p15:guide id="14" orient="horz" pos="4124">
          <p15:clr>
            <a:srgbClr val="F26B43"/>
          </p15:clr>
        </p15:guide>
        <p15:guide id="15" orient="horz" pos="26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6"/>
          <p:cNvSpPr txBox="1">
            <a:spLocks noGrp="1"/>
          </p:cNvSpPr>
          <p:nvPr>
            <p:ph type="title"/>
          </p:nvPr>
        </p:nvSpPr>
        <p:spPr>
          <a:xfrm>
            <a:off x="461964" y="407988"/>
            <a:ext cx="11268074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37160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Times New Roman"/>
              <a:buNone/>
              <a:defRPr sz="3200" b="1" i="0" u="none" strike="noStrike" cap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74" name="Google Shape;274;p36"/>
          <p:cNvSpPr txBox="1">
            <a:spLocks noGrp="1"/>
          </p:cNvSpPr>
          <p:nvPr>
            <p:ph type="body" idx="1"/>
          </p:nvPr>
        </p:nvSpPr>
        <p:spPr>
          <a:xfrm>
            <a:off x="461965" y="1692276"/>
            <a:ext cx="11268074" cy="4365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None/>
              <a:defRPr sz="2200" b="1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TR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TR"/>
              <a:buChar char="–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5" name="Google Shape;275;p36"/>
          <p:cNvSpPr txBox="1">
            <a:spLocks noGrp="1"/>
          </p:cNvSpPr>
          <p:nvPr>
            <p:ph type="sldNum" idx="12"/>
          </p:nvPr>
        </p:nvSpPr>
        <p:spPr>
          <a:xfrm>
            <a:off x="11347742" y="6346858"/>
            <a:ext cx="382295" cy="19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6" name="Google Shape;276;p36"/>
          <p:cNvSpPr txBox="1"/>
          <p:nvPr/>
        </p:nvSpPr>
        <p:spPr>
          <a:xfrm>
            <a:off x="7010400" y="76725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25000" lnSpcReduction="2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accent6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77" name="Google Shape;277;p36"/>
          <p:cNvSpPr txBox="1"/>
          <p:nvPr/>
        </p:nvSpPr>
        <p:spPr>
          <a:xfrm>
            <a:off x="8935656" y="174777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25000" lnSpcReduction="2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accent6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78" name="Google Shape;278;p36"/>
          <p:cNvSpPr txBox="1">
            <a:spLocks noGrp="1"/>
          </p:cNvSpPr>
          <p:nvPr>
            <p:ph type="ftr" idx="11"/>
          </p:nvPr>
        </p:nvSpPr>
        <p:spPr>
          <a:xfrm>
            <a:off x="4038600" y="6343650"/>
            <a:ext cx="3844926" cy="2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2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714">
          <p15:clr>
            <a:srgbClr val="F26B43"/>
          </p15:clr>
        </p15:guide>
        <p15:guide id="2" pos="291">
          <p15:clr>
            <a:srgbClr val="F26B43"/>
          </p15:clr>
        </p15:guide>
        <p15:guide id="3" pos="2536">
          <p15:clr>
            <a:srgbClr val="F26B43"/>
          </p15:clr>
        </p15:guide>
        <p15:guide id="4" pos="3747">
          <p15:clr>
            <a:srgbClr val="F26B43"/>
          </p15:clr>
        </p15:guide>
        <p15:guide id="5" pos="3840">
          <p15:clr>
            <a:srgbClr val="F26B43"/>
          </p15:clr>
        </p15:guide>
        <p15:guide id="6" pos="3933">
          <p15:clr>
            <a:srgbClr val="F26B43"/>
          </p15:clr>
        </p15:guide>
        <p15:guide id="7" pos="7389">
          <p15:clr>
            <a:srgbClr val="F26B43"/>
          </p15:clr>
        </p15:guide>
        <p15:guide id="8" pos="4966">
          <p15:clr>
            <a:srgbClr val="F26B43"/>
          </p15:clr>
        </p15:guide>
        <p15:guide id="9" pos="5144">
          <p15:clr>
            <a:srgbClr val="F26B43"/>
          </p15:clr>
        </p15:guide>
        <p15:guide id="10" orient="horz" pos="257">
          <p15:clr>
            <a:srgbClr val="F26B43"/>
          </p15:clr>
        </p15:guide>
        <p15:guide id="11" orient="horz" pos="1066">
          <p15:clr>
            <a:srgbClr val="F26B43"/>
          </p15:clr>
        </p15:guide>
        <p15:guide id="12" orient="horz" pos="3816">
          <p15:clr>
            <a:srgbClr val="F26B43"/>
          </p15:clr>
        </p15:guide>
        <p15:guide id="13" orient="horz" pos="3996">
          <p15:clr>
            <a:srgbClr val="F26B43"/>
          </p15:clr>
        </p15:guide>
        <p15:guide id="14" orient="horz" pos="900">
          <p15:clr>
            <a:srgbClr val="F26B43"/>
          </p15:clr>
        </p15:guide>
        <p15:guide id="15" orient="horz" pos="412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2"/>
          <p:cNvSpPr txBox="1">
            <a:spLocks noGrp="1"/>
          </p:cNvSpPr>
          <p:nvPr>
            <p:ph type="body" idx="1"/>
          </p:nvPr>
        </p:nvSpPr>
        <p:spPr>
          <a:xfrm>
            <a:off x="5240671" y="4718080"/>
            <a:ext cx="5484685" cy="1514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ctr"/>
            <a:r>
              <a:rPr lang="ar-SY" dirty="0" smtClean="0"/>
              <a:t>تقديم: حسن خضور</a:t>
            </a:r>
          </a:p>
          <a:p>
            <a:pPr marL="0" lvl="0" indent="0" algn="ctr"/>
            <a:r>
              <a:rPr lang="ar-SY" dirty="0" smtClean="0"/>
              <a:t>إشراف: د. رياض سنبل</a:t>
            </a:r>
            <a:endParaRPr dirty="0"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2"/>
          </p:nvPr>
        </p:nvSpPr>
        <p:spPr>
          <a:xfrm>
            <a:off x="5979881" y="6232106"/>
            <a:ext cx="3846600" cy="336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lang="en-US" dirty="0"/>
              <a:t> </a:t>
            </a:r>
            <a:r>
              <a:rPr lang="en-US" sz="1800" dirty="0" smtClean="0"/>
              <a:t>3/6/2023</a:t>
            </a:r>
          </a:p>
        </p:txBody>
      </p:sp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147500" y="2717301"/>
            <a:ext cx="7671029" cy="1725476"/>
          </a:xfrm>
        </p:spPr>
        <p:txBody>
          <a:bodyPr/>
          <a:lstStyle/>
          <a:p>
            <a:pPr algn="ctr"/>
            <a:r>
              <a:rPr lang="ar-SY" dirty="0" smtClean="0"/>
              <a:t>كشف الأحداث ومراقبتها في وسائل التواصل الاجتماعي اعتمادً على تقنيات التعلم العميق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3"/>
          <p:cNvSpPr txBox="1">
            <a:spLocks noGrp="1"/>
          </p:cNvSpPr>
          <p:nvPr>
            <p:ph type="sldNum" idx="12"/>
          </p:nvPr>
        </p:nvSpPr>
        <p:spPr>
          <a:xfrm>
            <a:off x="11347742" y="6346858"/>
            <a:ext cx="382295" cy="19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7" name="Google Shape;443;p40">
            <a:extLst>
              <a:ext uri="{FF2B5EF4-FFF2-40B4-BE49-F238E27FC236}">
                <a16:creationId xmlns:a16="http://schemas.microsoft.com/office/drawing/2014/main" id="{DE00EDF9-979B-FC11-C7EA-382B6F304276}"/>
              </a:ext>
            </a:extLst>
          </p:cNvPr>
          <p:cNvSpPr txBox="1">
            <a:spLocks noGrp="1"/>
          </p:cNvSpPr>
          <p:nvPr/>
        </p:nvSpPr>
        <p:spPr>
          <a:xfrm>
            <a:off x="4099629" y="289845"/>
            <a:ext cx="7704000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r"/>
            <a:r>
              <a:rPr lang="ar-SY" dirty="0" smtClean="0">
                <a:solidFill>
                  <a:schemeClr val="bg2">
                    <a:lumMod val="65000"/>
                    <a:lumOff val="35000"/>
                  </a:schemeClr>
                </a:solidFill>
              </a:rPr>
              <a:t>جدول المحتويات</a:t>
            </a:r>
            <a:endParaRPr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" name="مربع نص 15"/>
          <p:cNvSpPr txBox="1"/>
          <p:nvPr/>
        </p:nvSpPr>
        <p:spPr>
          <a:xfrm>
            <a:off x="3772012" y="1717368"/>
            <a:ext cx="709889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SY" sz="2000" dirty="0" smtClean="0">
                <a:latin typeface="+mj-lt"/>
                <a:cs typeface="Times New Roman" panose="02020603050405020304" pitchFamily="18" charset="0"/>
              </a:rPr>
              <a:t>المقدمة</a:t>
            </a:r>
          </a:p>
          <a:p>
            <a:pPr marL="342900" indent="-34290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SY" sz="2000" dirty="0" smtClean="0">
                <a:latin typeface="+mj-lt"/>
                <a:cs typeface="Times New Roman" panose="02020603050405020304" pitchFamily="18" charset="0"/>
              </a:rPr>
              <a:t>الدراسة المرجعية</a:t>
            </a:r>
            <a:endParaRPr lang="ar-SY" sz="2000" dirty="0" smtClean="0">
              <a:latin typeface="+mj-lt"/>
              <a:cs typeface="Times New Roman" panose="02020603050405020304" pitchFamily="18" charset="0"/>
            </a:endParaRPr>
          </a:p>
          <a:p>
            <a:pPr marL="342900" indent="-34290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SY" sz="2000" dirty="0" smtClean="0">
                <a:latin typeface="+mj-lt"/>
                <a:cs typeface="Times New Roman" panose="02020603050405020304" pitchFamily="18" charset="0"/>
              </a:rPr>
              <a:t>المنهجية المقترحة</a:t>
            </a:r>
          </a:p>
          <a:p>
            <a:pPr marL="342900" indent="-34290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SY" sz="2000" dirty="0" smtClean="0">
                <a:latin typeface="+mj-lt"/>
                <a:cs typeface="Times New Roman" panose="02020603050405020304" pitchFamily="18" charset="0"/>
              </a:rPr>
              <a:t>النتائج</a:t>
            </a:r>
            <a:endParaRPr lang="ar-SY" sz="2000" dirty="0" smtClean="0">
              <a:latin typeface="+mj-lt"/>
              <a:cs typeface="Times New Roman" panose="02020603050405020304" pitchFamily="18" charset="0"/>
            </a:endParaRPr>
          </a:p>
          <a:p>
            <a:pPr marL="342900" indent="-34290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SY" sz="2000" dirty="0" smtClean="0">
                <a:latin typeface="+mj-lt"/>
                <a:cs typeface="Times New Roman" panose="02020603050405020304" pitchFamily="18" charset="0"/>
              </a:rPr>
              <a:t>تصميم النظام</a:t>
            </a:r>
          </a:p>
          <a:p>
            <a:pPr marL="342900" indent="-34290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SY" sz="2000" dirty="0" smtClean="0">
                <a:latin typeface="+mj-lt"/>
                <a:cs typeface="Times New Roman" panose="02020603050405020304" pitchFamily="18" charset="0"/>
              </a:rPr>
              <a:t>تنجيز الخدمات</a:t>
            </a:r>
          </a:p>
          <a:p>
            <a:pPr marL="342900" indent="-34290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SY" sz="2000" dirty="0" smtClean="0">
                <a:latin typeface="+mj-lt"/>
                <a:cs typeface="Times New Roman" panose="02020603050405020304" pitchFamily="18" charset="0"/>
              </a:rPr>
              <a:t>الاختبارات</a:t>
            </a:r>
            <a:endParaRPr lang="en-US" sz="20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6" name="Google Shape;350;p43"/>
          <p:cNvSpPr txBox="1">
            <a:spLocks/>
          </p:cNvSpPr>
          <p:nvPr/>
        </p:nvSpPr>
        <p:spPr>
          <a:xfrm>
            <a:off x="4308475" y="6351503"/>
            <a:ext cx="4678209" cy="188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800" dirty="0" smtClean="0"/>
              <a:t>Event Detection and Monitoring in Social Media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2002" y="816881"/>
            <a:ext cx="5063836" cy="5063836"/>
          </a:xfrm>
          <a:prstGeom prst="rect">
            <a:avLst/>
          </a:prstGeom>
        </p:spPr>
      </p:pic>
      <p:sp>
        <p:nvSpPr>
          <p:cNvPr id="349" name="Google Shape;349;p43"/>
          <p:cNvSpPr txBox="1">
            <a:spLocks noGrp="1"/>
          </p:cNvSpPr>
          <p:nvPr>
            <p:ph type="sldNum" idx="12"/>
          </p:nvPr>
        </p:nvSpPr>
        <p:spPr>
          <a:xfrm>
            <a:off x="11347742" y="6346858"/>
            <a:ext cx="382295" cy="19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7" name="صورة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05826">
            <a:off x="6789831" y="1206861"/>
            <a:ext cx="4444812" cy="884024"/>
          </a:xfrm>
          <a:prstGeom prst="rect">
            <a:avLst/>
          </a:prstGeom>
        </p:spPr>
      </p:pic>
      <p:sp>
        <p:nvSpPr>
          <p:cNvPr id="6" name="Google Shape;350;p43"/>
          <p:cNvSpPr txBox="1">
            <a:spLocks/>
          </p:cNvSpPr>
          <p:nvPr/>
        </p:nvSpPr>
        <p:spPr>
          <a:xfrm>
            <a:off x="4308475" y="6351503"/>
            <a:ext cx="4678209" cy="188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800" dirty="0" smtClean="0"/>
              <a:t>Event Detection and Monitoring in Social Media</a:t>
            </a:r>
            <a:endParaRPr lang="en-US" sz="1800" dirty="0"/>
          </a:p>
        </p:txBody>
      </p:sp>
      <p:sp>
        <p:nvSpPr>
          <p:cNvPr id="8" name="Google Shape;443;p40">
            <a:extLst>
              <a:ext uri="{FF2B5EF4-FFF2-40B4-BE49-F238E27FC236}">
                <a16:creationId xmlns:a16="http://schemas.microsoft.com/office/drawing/2014/main" id="{DE00EDF9-979B-FC11-C7EA-382B6F304276}"/>
              </a:ext>
            </a:extLst>
          </p:cNvPr>
          <p:cNvSpPr txBox="1">
            <a:spLocks noGrp="1"/>
          </p:cNvSpPr>
          <p:nvPr/>
        </p:nvSpPr>
        <p:spPr>
          <a:xfrm>
            <a:off x="580100" y="299081"/>
            <a:ext cx="10767641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r"/>
            <a:r>
              <a:rPr lang="ar-SY" dirty="0" smtClean="0">
                <a:solidFill>
                  <a:schemeClr val="bg2">
                    <a:lumMod val="65000"/>
                    <a:lumOff val="35000"/>
                  </a:schemeClr>
                </a:solidFill>
              </a:rPr>
              <a:t>المقدمة</a:t>
            </a:r>
            <a:endParaRPr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5" name="صورة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945678">
            <a:off x="565975" y="595278"/>
            <a:ext cx="5397945" cy="1478806"/>
          </a:xfrm>
          <a:prstGeom prst="rect">
            <a:avLst/>
          </a:prstGeom>
        </p:spPr>
      </p:pic>
      <p:pic>
        <p:nvPicPr>
          <p:cNvPr id="9" name="صورة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9724514">
            <a:off x="-112861" y="2641175"/>
            <a:ext cx="4404899" cy="2074055"/>
          </a:xfrm>
          <a:prstGeom prst="rect">
            <a:avLst/>
          </a:prstGeom>
        </p:spPr>
      </p:pic>
      <p:pic>
        <p:nvPicPr>
          <p:cNvPr id="10" name="صورة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3695" y="3089957"/>
            <a:ext cx="2498241" cy="2509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065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3"/>
          <p:cNvSpPr txBox="1">
            <a:spLocks noGrp="1"/>
          </p:cNvSpPr>
          <p:nvPr>
            <p:ph type="sldNum" idx="12"/>
          </p:nvPr>
        </p:nvSpPr>
        <p:spPr>
          <a:xfrm>
            <a:off x="11347742" y="6346858"/>
            <a:ext cx="382295" cy="19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6" name="Google Shape;350;p43"/>
          <p:cNvSpPr txBox="1">
            <a:spLocks/>
          </p:cNvSpPr>
          <p:nvPr/>
        </p:nvSpPr>
        <p:spPr>
          <a:xfrm>
            <a:off x="4308475" y="6351503"/>
            <a:ext cx="4678209" cy="188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800" dirty="0" smtClean="0"/>
              <a:t>Event Detection and Monitoring in Social Media</a:t>
            </a:r>
            <a:endParaRPr lang="en-US" sz="1800" dirty="0"/>
          </a:p>
        </p:txBody>
      </p:sp>
      <p:sp>
        <p:nvSpPr>
          <p:cNvPr id="8" name="Google Shape;443;p40">
            <a:extLst>
              <a:ext uri="{FF2B5EF4-FFF2-40B4-BE49-F238E27FC236}">
                <a16:creationId xmlns:a16="http://schemas.microsoft.com/office/drawing/2014/main" id="{DE00EDF9-979B-FC11-C7EA-382B6F304276}"/>
              </a:ext>
            </a:extLst>
          </p:cNvPr>
          <p:cNvSpPr txBox="1">
            <a:spLocks noGrp="1"/>
          </p:cNvSpPr>
          <p:nvPr/>
        </p:nvSpPr>
        <p:spPr>
          <a:xfrm>
            <a:off x="580100" y="299081"/>
            <a:ext cx="10767641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r"/>
            <a:r>
              <a:rPr lang="ar-SY" dirty="0" smtClean="0">
                <a:solidFill>
                  <a:schemeClr val="bg2">
                    <a:lumMod val="65000"/>
                    <a:lumOff val="35000"/>
                  </a:schemeClr>
                </a:solidFill>
              </a:rPr>
              <a:t>المقدمة</a:t>
            </a:r>
            <a:endParaRPr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مربع نص 3"/>
          <p:cNvSpPr txBox="1"/>
          <p:nvPr/>
        </p:nvSpPr>
        <p:spPr>
          <a:xfrm>
            <a:off x="5501210" y="5565159"/>
            <a:ext cx="19463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[Syria.liveuamap.com]</a:t>
            </a:r>
            <a:endParaRPr lang="en-US" dirty="0"/>
          </a:p>
        </p:txBody>
      </p:sp>
      <p:pic>
        <p:nvPicPr>
          <p:cNvPr id="2" name="صورة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742" y="859351"/>
            <a:ext cx="10578114" cy="501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787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3"/>
          <p:cNvSpPr txBox="1">
            <a:spLocks noGrp="1"/>
          </p:cNvSpPr>
          <p:nvPr>
            <p:ph type="sldNum" idx="12"/>
          </p:nvPr>
        </p:nvSpPr>
        <p:spPr>
          <a:xfrm>
            <a:off x="11347742" y="6346858"/>
            <a:ext cx="382295" cy="19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7" name="Google Shape;443;p40">
            <a:extLst>
              <a:ext uri="{FF2B5EF4-FFF2-40B4-BE49-F238E27FC236}">
                <a16:creationId xmlns:a16="http://schemas.microsoft.com/office/drawing/2014/main" id="{DE00EDF9-979B-FC11-C7EA-382B6F304276}"/>
              </a:ext>
            </a:extLst>
          </p:cNvPr>
          <p:cNvSpPr txBox="1">
            <a:spLocks noGrp="1"/>
          </p:cNvSpPr>
          <p:nvPr/>
        </p:nvSpPr>
        <p:spPr>
          <a:xfrm>
            <a:off x="580101" y="299081"/>
            <a:ext cx="7704000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" name="مربع نص 15"/>
          <p:cNvSpPr txBox="1"/>
          <p:nvPr/>
        </p:nvSpPr>
        <p:spPr>
          <a:xfrm>
            <a:off x="1887793" y="1514168"/>
            <a:ext cx="9269733" cy="373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SY" sz="2000" dirty="0" smtClean="0"/>
              <a:t>ما هو المشروع وما هدفه؟ </a:t>
            </a:r>
          </a:p>
          <a:p>
            <a:pPr algn="r" rtl="1">
              <a:lnSpc>
                <a:spcPct val="150000"/>
              </a:lnSpc>
            </a:pPr>
            <a:r>
              <a:rPr lang="ar-SY" sz="2000" dirty="0"/>
              <a:t>	</a:t>
            </a:r>
            <a:r>
              <a:rPr lang="ar-SY" sz="2000" dirty="0" smtClean="0"/>
              <a:t>كشف الأحداث من منشورات وسائل التواصل باللغة العربية</a:t>
            </a:r>
            <a:endParaRPr lang="en-US" sz="2000" dirty="0" smtClean="0"/>
          </a:p>
          <a:p>
            <a:pPr lvl="1" algn="r" rtl="1">
              <a:lnSpc>
                <a:spcPct val="150000"/>
              </a:lnSpc>
            </a:pPr>
            <a:r>
              <a:rPr lang="ar-SY" sz="1800" dirty="0" smtClean="0">
                <a:latin typeface="+mj-lt"/>
                <a:cs typeface="Times New Roman" panose="02020603050405020304" pitchFamily="18" charset="0"/>
              </a:rPr>
              <a:t>	عرض الأحداث والأزمات على خريطة حية، للعامة ولصانعي القرار </a:t>
            </a:r>
            <a:r>
              <a:rPr lang="en-US" sz="1800" dirty="0" smtClean="0">
                <a:latin typeface="+mj-lt"/>
                <a:cs typeface="Times New Roman" panose="02020603050405020304" pitchFamily="18" charset="0"/>
              </a:rPr>
              <a:t>            	</a:t>
            </a:r>
          </a:p>
          <a:p>
            <a:pPr marL="342900" indent="-34290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SY" sz="2000" dirty="0" smtClean="0"/>
              <a:t>لماذا نحتاج هكذا نظام؟</a:t>
            </a:r>
          </a:p>
          <a:p>
            <a:pPr algn="r" rtl="1">
              <a:lnSpc>
                <a:spcPct val="150000"/>
              </a:lnSpc>
            </a:pPr>
            <a:r>
              <a:rPr lang="ar-SY" sz="2000" dirty="0" smtClean="0"/>
              <a:t>	وسائل التواصل هي المصدر الأول </a:t>
            </a:r>
            <a:r>
              <a:rPr lang="ar-SY" sz="2000" dirty="0"/>
              <a:t>للأحداث ومجرياتها بالزمن الحي </a:t>
            </a:r>
            <a:endParaRPr lang="ar-SY" sz="2000" dirty="0" smtClean="0"/>
          </a:p>
          <a:p>
            <a:pPr algn="r" rtl="1">
              <a:lnSpc>
                <a:spcPct val="150000"/>
              </a:lnSpc>
            </a:pPr>
            <a:r>
              <a:rPr lang="ar-SY" sz="2000" dirty="0" smtClean="0"/>
              <a:t>	لا يوجد نظام مشابه يركز على المحتوى العربي وعلى الأحداث المحلية</a:t>
            </a:r>
          </a:p>
          <a:p>
            <a:pPr algn="r" rtl="1">
              <a:lnSpc>
                <a:spcPct val="150000"/>
              </a:lnSpc>
            </a:pPr>
            <a:r>
              <a:rPr lang="ar-SY" sz="2000" dirty="0"/>
              <a:t>	</a:t>
            </a:r>
            <a:endParaRPr lang="en-US" sz="2000" dirty="0" smtClean="0"/>
          </a:p>
          <a:p>
            <a:pPr algn="r" rtl="1">
              <a:lnSpc>
                <a:spcPct val="150000"/>
              </a:lnSpc>
            </a:pPr>
            <a:r>
              <a:rPr lang="en-US" sz="2000" dirty="0">
                <a:latin typeface="+mj-lt"/>
                <a:cs typeface="Times New Roman" panose="02020603050405020304" pitchFamily="18" charset="0"/>
              </a:rPr>
              <a:t>	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	</a:t>
            </a:r>
            <a:endParaRPr lang="en-US" sz="2000" dirty="0" smtClean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6" name="Google Shape;350;p43"/>
          <p:cNvSpPr txBox="1">
            <a:spLocks/>
          </p:cNvSpPr>
          <p:nvPr/>
        </p:nvSpPr>
        <p:spPr>
          <a:xfrm>
            <a:off x="4308475" y="6351503"/>
            <a:ext cx="4678209" cy="188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800" dirty="0" smtClean="0"/>
              <a:t>Event Detection and Monitoring in Social Media</a:t>
            </a:r>
            <a:endParaRPr lang="en-US" sz="1800" dirty="0"/>
          </a:p>
        </p:txBody>
      </p:sp>
      <p:sp>
        <p:nvSpPr>
          <p:cNvPr id="10" name="Google Shape;443;p40">
            <a:extLst>
              <a:ext uri="{FF2B5EF4-FFF2-40B4-BE49-F238E27FC236}">
                <a16:creationId xmlns:a16="http://schemas.microsoft.com/office/drawing/2014/main" id="{DE00EDF9-979B-FC11-C7EA-382B6F304276}"/>
              </a:ext>
            </a:extLst>
          </p:cNvPr>
          <p:cNvSpPr txBox="1">
            <a:spLocks noGrp="1"/>
          </p:cNvSpPr>
          <p:nvPr/>
        </p:nvSpPr>
        <p:spPr>
          <a:xfrm>
            <a:off x="2752436" y="299081"/>
            <a:ext cx="8595305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r"/>
            <a:r>
              <a:rPr lang="ar-SY" dirty="0" smtClean="0">
                <a:solidFill>
                  <a:schemeClr val="bg2">
                    <a:lumMod val="65000"/>
                    <a:lumOff val="35000"/>
                  </a:schemeClr>
                </a:solidFill>
              </a:rPr>
              <a:t>المقدمة</a:t>
            </a:r>
            <a:endParaRPr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7087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صورة 20"/>
          <p:cNvPicPr/>
          <p:nvPr/>
        </p:nvPicPr>
        <p:blipFill>
          <a:blip r:embed="rId3"/>
          <a:stretch>
            <a:fillRect/>
          </a:stretch>
        </p:blipFill>
        <p:spPr>
          <a:xfrm>
            <a:off x="7195127" y="3453844"/>
            <a:ext cx="4387851" cy="2511103"/>
          </a:xfrm>
          <a:prstGeom prst="rect">
            <a:avLst/>
          </a:prstGeom>
        </p:spPr>
      </p:pic>
      <p:pic>
        <p:nvPicPr>
          <p:cNvPr id="20" name="صورة 19"/>
          <p:cNvPicPr/>
          <p:nvPr/>
        </p:nvPicPr>
        <p:blipFill>
          <a:blip r:embed="rId4"/>
          <a:stretch>
            <a:fillRect/>
          </a:stretch>
        </p:blipFill>
        <p:spPr>
          <a:xfrm>
            <a:off x="3001696" y="2656899"/>
            <a:ext cx="3805619" cy="3308048"/>
          </a:xfrm>
          <a:prstGeom prst="rect">
            <a:avLst/>
          </a:prstGeom>
        </p:spPr>
      </p:pic>
      <p:sp>
        <p:nvSpPr>
          <p:cNvPr id="349" name="Google Shape;349;p43"/>
          <p:cNvSpPr txBox="1">
            <a:spLocks noGrp="1"/>
          </p:cNvSpPr>
          <p:nvPr>
            <p:ph type="sldNum" idx="12"/>
          </p:nvPr>
        </p:nvSpPr>
        <p:spPr>
          <a:xfrm>
            <a:off x="11347742" y="6346858"/>
            <a:ext cx="382295" cy="19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6" name="Google Shape;350;p43"/>
          <p:cNvSpPr txBox="1">
            <a:spLocks/>
          </p:cNvSpPr>
          <p:nvPr/>
        </p:nvSpPr>
        <p:spPr>
          <a:xfrm>
            <a:off x="4308475" y="6351503"/>
            <a:ext cx="4678209" cy="188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800" dirty="0" smtClean="0"/>
              <a:t>Event Detection and Monitoring in Social Media</a:t>
            </a:r>
            <a:endParaRPr lang="en-US" sz="1800" dirty="0"/>
          </a:p>
        </p:txBody>
      </p:sp>
      <p:sp>
        <p:nvSpPr>
          <p:cNvPr id="8" name="Google Shape;443;p40">
            <a:extLst>
              <a:ext uri="{FF2B5EF4-FFF2-40B4-BE49-F238E27FC236}">
                <a16:creationId xmlns:a16="http://schemas.microsoft.com/office/drawing/2014/main" id="{DE00EDF9-979B-FC11-C7EA-382B6F304276}"/>
              </a:ext>
            </a:extLst>
          </p:cNvPr>
          <p:cNvSpPr txBox="1">
            <a:spLocks noGrp="1"/>
          </p:cNvSpPr>
          <p:nvPr/>
        </p:nvSpPr>
        <p:spPr>
          <a:xfrm>
            <a:off x="580101" y="299081"/>
            <a:ext cx="8628554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مستطيل 4"/>
          <p:cNvSpPr/>
          <p:nvPr/>
        </p:nvSpPr>
        <p:spPr>
          <a:xfrm>
            <a:off x="1473908" y="4070330"/>
            <a:ext cx="1047911" cy="4042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7" name="صورة 16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287" y="623474"/>
            <a:ext cx="4805512" cy="2830370"/>
          </a:xfrm>
          <a:prstGeom prst="rect">
            <a:avLst/>
          </a:prstGeom>
        </p:spPr>
      </p:pic>
      <p:sp>
        <p:nvSpPr>
          <p:cNvPr id="11" name="Google Shape;443;p40">
            <a:extLst>
              <a:ext uri="{FF2B5EF4-FFF2-40B4-BE49-F238E27FC236}">
                <a16:creationId xmlns:a16="http://schemas.microsoft.com/office/drawing/2014/main" id="{DE00EDF9-979B-FC11-C7EA-382B6F304276}"/>
              </a:ext>
            </a:extLst>
          </p:cNvPr>
          <p:cNvSpPr txBox="1">
            <a:spLocks noGrp="1"/>
          </p:cNvSpPr>
          <p:nvPr/>
        </p:nvSpPr>
        <p:spPr>
          <a:xfrm>
            <a:off x="4165600" y="299081"/>
            <a:ext cx="7182141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r"/>
            <a:r>
              <a:rPr lang="ar-SY" dirty="0" smtClean="0">
                <a:solidFill>
                  <a:schemeClr val="bg2">
                    <a:lumMod val="65000"/>
                    <a:lumOff val="35000"/>
                  </a:schemeClr>
                </a:solidFill>
              </a:rPr>
              <a:t>الدراسة التحليلية | حالات الاستخدام</a:t>
            </a:r>
            <a:endParaRPr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4" name="صورة 13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197" y="999202"/>
            <a:ext cx="3484997" cy="202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597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6" name="Google Shape;350;p43"/>
          <p:cNvSpPr txBox="1">
            <a:spLocks/>
          </p:cNvSpPr>
          <p:nvPr/>
        </p:nvSpPr>
        <p:spPr>
          <a:xfrm>
            <a:off x="4308475" y="6351503"/>
            <a:ext cx="4678209" cy="188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800" dirty="0" smtClean="0"/>
              <a:t>Event Detection and Monitoring in Social Media</a:t>
            </a:r>
            <a:endParaRPr lang="en-US" sz="1800" dirty="0"/>
          </a:p>
        </p:txBody>
      </p:sp>
      <p:sp>
        <p:nvSpPr>
          <p:cNvPr id="8" name="Google Shape;443;p40">
            <a:extLst>
              <a:ext uri="{FF2B5EF4-FFF2-40B4-BE49-F238E27FC236}">
                <a16:creationId xmlns:a16="http://schemas.microsoft.com/office/drawing/2014/main" id="{DE00EDF9-979B-FC11-C7EA-382B6F304276}"/>
              </a:ext>
            </a:extLst>
          </p:cNvPr>
          <p:cNvSpPr txBox="1">
            <a:spLocks noGrp="1"/>
          </p:cNvSpPr>
          <p:nvPr/>
        </p:nvSpPr>
        <p:spPr>
          <a:xfrm>
            <a:off x="580101" y="299081"/>
            <a:ext cx="7704000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Google Shape;443;p40">
            <a:extLst>
              <a:ext uri="{FF2B5EF4-FFF2-40B4-BE49-F238E27FC236}">
                <a16:creationId xmlns:a16="http://schemas.microsoft.com/office/drawing/2014/main" id="{DE00EDF9-979B-FC11-C7EA-382B6F304276}"/>
              </a:ext>
            </a:extLst>
          </p:cNvPr>
          <p:cNvSpPr txBox="1">
            <a:spLocks noGrp="1"/>
          </p:cNvSpPr>
          <p:nvPr/>
        </p:nvSpPr>
        <p:spPr>
          <a:xfrm>
            <a:off x="4165600" y="299081"/>
            <a:ext cx="7182141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r"/>
            <a:r>
              <a:rPr lang="ar-SY" dirty="0" smtClean="0">
                <a:solidFill>
                  <a:schemeClr val="bg2">
                    <a:lumMod val="65000"/>
                    <a:lumOff val="35000"/>
                  </a:schemeClr>
                </a:solidFill>
              </a:rPr>
              <a:t>الدراسة المرجعية</a:t>
            </a:r>
            <a:endParaRPr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6" name="مربع نص 25"/>
          <p:cNvSpPr txBox="1"/>
          <p:nvPr/>
        </p:nvSpPr>
        <p:spPr>
          <a:xfrm>
            <a:off x="1473907" y="1225411"/>
            <a:ext cx="94619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 smtClean="0">
                <a:latin typeface="+mj-lt"/>
                <a:cs typeface="Times New Roman" panose="02020603050405020304" pitchFamily="18" charset="0"/>
              </a:rPr>
              <a:t>Featur</a:t>
            </a:r>
            <a:r>
              <a:rPr lang="en-US" sz="2000" dirty="0" smtClean="0">
                <a:latin typeface="+mj-lt"/>
                <a:cs typeface="Times New Roman" panose="02020603050405020304" pitchFamily="18" charset="0"/>
              </a:rPr>
              <a:t>e-Pivot Event Detection</a:t>
            </a:r>
            <a:endParaRPr lang="en-US" sz="2000" dirty="0" smtClean="0">
              <a:latin typeface="+mj-lt"/>
              <a:cs typeface="Times New Roman" panose="02020603050405020304" pitchFamily="18" charset="0"/>
            </a:endParaRPr>
          </a:p>
          <a:p>
            <a:pPr marL="342900" indent="-34290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 smtClean="0">
                <a:latin typeface="+mj-lt"/>
                <a:cs typeface="Times New Roman" panose="02020603050405020304" pitchFamily="18" charset="0"/>
              </a:rPr>
              <a:t>Document-Pivot Event Detection</a:t>
            </a:r>
            <a:endParaRPr lang="en-US" sz="2000" dirty="0" smtClean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22" name="صورة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91" y="3081193"/>
            <a:ext cx="6096000" cy="1619250"/>
          </a:xfrm>
          <a:prstGeom prst="rect">
            <a:avLst/>
          </a:prstGeom>
        </p:spPr>
      </p:pic>
      <p:sp>
        <p:nvSpPr>
          <p:cNvPr id="28" name="مربع نص 27"/>
          <p:cNvSpPr txBox="1"/>
          <p:nvPr/>
        </p:nvSpPr>
        <p:spPr>
          <a:xfrm>
            <a:off x="1473907" y="4700443"/>
            <a:ext cx="18278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en-US" sz="2000" dirty="0" smtClean="0">
                <a:latin typeface="+mj-lt"/>
                <a:cs typeface="Times New Roman" panose="02020603050405020304" pitchFamily="18" charset="0"/>
              </a:rPr>
              <a:t>Feature Pivot</a:t>
            </a:r>
          </a:p>
          <a:p>
            <a:pPr algn="r" rtl="1">
              <a:lnSpc>
                <a:spcPct val="150000"/>
              </a:lnSpc>
            </a:pPr>
            <a:endParaRPr lang="en-US" sz="2000" dirty="0" smtClean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1030" name="Picture 6" descr="GitHub - patrickphat/awesome-topic-modeling: All methods, libraries and  resources for exploring topics from large dataset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7884" y="2722687"/>
            <a:ext cx="3564698" cy="1977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مربع نص 31"/>
          <p:cNvSpPr txBox="1"/>
          <p:nvPr/>
        </p:nvSpPr>
        <p:spPr>
          <a:xfrm>
            <a:off x="7823907" y="4815897"/>
            <a:ext cx="22714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en-US" sz="2000" dirty="0" smtClean="0">
                <a:latin typeface="+mj-lt"/>
                <a:cs typeface="Times New Roman" panose="02020603050405020304" pitchFamily="18" charset="0"/>
              </a:rPr>
              <a:t>Document Pivot</a:t>
            </a:r>
          </a:p>
          <a:p>
            <a:pPr algn="r" rtl="1">
              <a:lnSpc>
                <a:spcPct val="150000"/>
              </a:lnSpc>
            </a:pPr>
            <a:endParaRPr lang="en-US" sz="2000" dirty="0" smtClean="0"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200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6" name="Google Shape;350;p43"/>
          <p:cNvSpPr txBox="1">
            <a:spLocks/>
          </p:cNvSpPr>
          <p:nvPr/>
        </p:nvSpPr>
        <p:spPr>
          <a:xfrm>
            <a:off x="4308475" y="6351503"/>
            <a:ext cx="4678209" cy="188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800" dirty="0" smtClean="0"/>
              <a:t>Event Detection and Monitoring in Social Media</a:t>
            </a:r>
            <a:endParaRPr lang="en-US" sz="1800" dirty="0"/>
          </a:p>
        </p:txBody>
      </p:sp>
      <p:sp>
        <p:nvSpPr>
          <p:cNvPr id="8" name="Google Shape;443;p40">
            <a:extLst>
              <a:ext uri="{FF2B5EF4-FFF2-40B4-BE49-F238E27FC236}">
                <a16:creationId xmlns:a16="http://schemas.microsoft.com/office/drawing/2014/main" id="{DE00EDF9-979B-FC11-C7EA-382B6F304276}"/>
              </a:ext>
            </a:extLst>
          </p:cNvPr>
          <p:cNvSpPr txBox="1">
            <a:spLocks noGrp="1"/>
          </p:cNvSpPr>
          <p:nvPr/>
        </p:nvSpPr>
        <p:spPr>
          <a:xfrm>
            <a:off x="580101" y="299081"/>
            <a:ext cx="7704000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Google Shape;443;p40">
            <a:extLst>
              <a:ext uri="{FF2B5EF4-FFF2-40B4-BE49-F238E27FC236}">
                <a16:creationId xmlns:a16="http://schemas.microsoft.com/office/drawing/2014/main" id="{DE00EDF9-979B-FC11-C7EA-382B6F304276}"/>
              </a:ext>
            </a:extLst>
          </p:cNvPr>
          <p:cNvSpPr txBox="1">
            <a:spLocks noGrp="1"/>
          </p:cNvSpPr>
          <p:nvPr/>
        </p:nvSpPr>
        <p:spPr>
          <a:xfrm>
            <a:off x="4165600" y="299081"/>
            <a:ext cx="7182141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r"/>
            <a:r>
              <a:rPr lang="ar-SY" dirty="0" smtClean="0">
                <a:solidFill>
                  <a:schemeClr val="bg2">
                    <a:lumMod val="65000"/>
                    <a:lumOff val="35000"/>
                  </a:schemeClr>
                </a:solidFill>
              </a:rPr>
              <a:t>الدراسة المرجعية</a:t>
            </a:r>
            <a:endParaRPr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6" name="مربع نص 25"/>
          <p:cNvSpPr txBox="1"/>
          <p:nvPr/>
        </p:nvSpPr>
        <p:spPr>
          <a:xfrm>
            <a:off x="1473907" y="1225411"/>
            <a:ext cx="94619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SY" sz="2000" dirty="0" smtClean="0">
                <a:latin typeface="+mj-lt"/>
                <a:cs typeface="Times New Roman" panose="02020603050405020304" pitchFamily="18" charset="0"/>
              </a:rPr>
              <a:t>معاير التقييم</a:t>
            </a:r>
          </a:p>
          <a:p>
            <a:pPr marL="342900" indent="-34290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 smtClean="0">
                <a:latin typeface="+mj-lt"/>
                <a:cs typeface="Times New Roman" panose="02020603050405020304" pitchFamily="18" charset="0"/>
              </a:rPr>
              <a:t>Normalized Mutual Information</a:t>
            </a:r>
          </a:p>
          <a:p>
            <a:pPr marL="342900" indent="-34290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 smtClean="0">
                <a:latin typeface="+mj-lt"/>
                <a:cs typeface="Times New Roman" panose="02020603050405020304" pitchFamily="18" charset="0"/>
              </a:rPr>
              <a:t>Adjusted Mutual Information</a:t>
            </a:r>
            <a:endParaRPr lang="en-US" sz="2000" dirty="0" smtClean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1030" name="Picture 6" descr="GitHub - patrickphat/awesome-topic-modeling: All methods, libraries and  resources for exploring topics from large dataset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7884" y="2722687"/>
            <a:ext cx="3564698" cy="1977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مربع نص 31"/>
          <p:cNvSpPr txBox="1"/>
          <p:nvPr/>
        </p:nvSpPr>
        <p:spPr>
          <a:xfrm>
            <a:off x="7823907" y="4815897"/>
            <a:ext cx="22714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en-US" sz="2000" dirty="0" smtClean="0">
                <a:latin typeface="+mj-lt"/>
                <a:cs typeface="Times New Roman" panose="02020603050405020304" pitchFamily="18" charset="0"/>
              </a:rPr>
              <a:t>Document Pivot</a:t>
            </a:r>
          </a:p>
          <a:p>
            <a:pPr algn="r" rtl="1">
              <a:lnSpc>
                <a:spcPct val="150000"/>
              </a:lnSpc>
            </a:pPr>
            <a:endParaRPr lang="en-US" sz="2000" dirty="0" smtClean="0"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801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6" name="Google Shape;350;p43"/>
          <p:cNvSpPr txBox="1">
            <a:spLocks/>
          </p:cNvSpPr>
          <p:nvPr/>
        </p:nvSpPr>
        <p:spPr>
          <a:xfrm>
            <a:off x="4308475" y="6351503"/>
            <a:ext cx="4678209" cy="188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800" dirty="0" smtClean="0"/>
              <a:t>Event Detection and Monitoring in Social Media</a:t>
            </a:r>
            <a:endParaRPr lang="en-US" sz="1800" dirty="0"/>
          </a:p>
        </p:txBody>
      </p:sp>
      <p:sp>
        <p:nvSpPr>
          <p:cNvPr id="8" name="Google Shape;443;p40">
            <a:extLst>
              <a:ext uri="{FF2B5EF4-FFF2-40B4-BE49-F238E27FC236}">
                <a16:creationId xmlns:a16="http://schemas.microsoft.com/office/drawing/2014/main" id="{DE00EDF9-979B-FC11-C7EA-382B6F304276}"/>
              </a:ext>
            </a:extLst>
          </p:cNvPr>
          <p:cNvSpPr txBox="1">
            <a:spLocks noGrp="1"/>
          </p:cNvSpPr>
          <p:nvPr/>
        </p:nvSpPr>
        <p:spPr>
          <a:xfrm>
            <a:off x="580101" y="299081"/>
            <a:ext cx="7704000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Google Shape;443;p40">
            <a:extLst>
              <a:ext uri="{FF2B5EF4-FFF2-40B4-BE49-F238E27FC236}">
                <a16:creationId xmlns:a16="http://schemas.microsoft.com/office/drawing/2014/main" id="{DE00EDF9-979B-FC11-C7EA-382B6F304276}"/>
              </a:ext>
            </a:extLst>
          </p:cNvPr>
          <p:cNvSpPr txBox="1">
            <a:spLocks noGrp="1"/>
          </p:cNvSpPr>
          <p:nvPr/>
        </p:nvSpPr>
        <p:spPr>
          <a:xfrm>
            <a:off x="4165600" y="299081"/>
            <a:ext cx="7182141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r"/>
            <a:r>
              <a:rPr lang="ar-SY" dirty="0" smtClean="0">
                <a:solidFill>
                  <a:schemeClr val="bg2">
                    <a:lumMod val="65000"/>
                    <a:lumOff val="35000"/>
                  </a:schemeClr>
                </a:solidFill>
              </a:rPr>
              <a:t>الدراسة المرجعية</a:t>
            </a:r>
            <a:endParaRPr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6" name="مربع نص 25"/>
          <p:cNvSpPr txBox="1"/>
          <p:nvPr/>
        </p:nvSpPr>
        <p:spPr>
          <a:xfrm>
            <a:off x="1473907" y="1225411"/>
            <a:ext cx="9461947" cy="958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SY" sz="2000" dirty="0" smtClean="0">
                <a:latin typeface="+mj-lt"/>
                <a:cs typeface="Times New Roman" panose="02020603050405020304" pitchFamily="18" charset="0"/>
              </a:rPr>
              <a:t>لا يتوفر مجموعة بيانات باللغة العربية</a:t>
            </a:r>
          </a:p>
          <a:p>
            <a:pPr algn="r" rtl="1">
              <a:lnSpc>
                <a:spcPct val="150000"/>
              </a:lnSpc>
            </a:pPr>
            <a:endParaRPr lang="en-US" sz="2000" dirty="0" smtClean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1030" name="Picture 6" descr="GitHub - patrickphat/awesome-topic-modeling: All methods, libraries and  resources for exploring topics from large dataset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777" y="3124898"/>
            <a:ext cx="3564698" cy="1977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2129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3"/>
          <p:cNvSpPr txBox="1">
            <a:spLocks noGrp="1"/>
          </p:cNvSpPr>
          <p:nvPr>
            <p:ph type="sldNum" idx="12"/>
          </p:nvPr>
        </p:nvSpPr>
        <p:spPr>
          <a:xfrm>
            <a:off x="11347742" y="6346858"/>
            <a:ext cx="382295" cy="19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6" name="Google Shape;350;p43"/>
          <p:cNvSpPr txBox="1">
            <a:spLocks/>
          </p:cNvSpPr>
          <p:nvPr/>
        </p:nvSpPr>
        <p:spPr>
          <a:xfrm>
            <a:off x="4308475" y="6351503"/>
            <a:ext cx="4678209" cy="188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800" dirty="0" smtClean="0"/>
              <a:t>Event Detection and Monitoring in Social Media</a:t>
            </a:r>
            <a:endParaRPr lang="en-US" sz="1800" dirty="0"/>
          </a:p>
        </p:txBody>
      </p:sp>
      <p:sp>
        <p:nvSpPr>
          <p:cNvPr id="8" name="Google Shape;443;p40">
            <a:extLst>
              <a:ext uri="{FF2B5EF4-FFF2-40B4-BE49-F238E27FC236}">
                <a16:creationId xmlns:a16="http://schemas.microsoft.com/office/drawing/2014/main" id="{DE00EDF9-979B-FC11-C7EA-382B6F304276}"/>
              </a:ext>
            </a:extLst>
          </p:cNvPr>
          <p:cNvSpPr txBox="1">
            <a:spLocks noGrp="1"/>
          </p:cNvSpPr>
          <p:nvPr/>
        </p:nvSpPr>
        <p:spPr>
          <a:xfrm>
            <a:off x="580101" y="299081"/>
            <a:ext cx="7704000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مربع نص 8"/>
          <p:cNvSpPr txBox="1"/>
          <p:nvPr/>
        </p:nvSpPr>
        <p:spPr>
          <a:xfrm>
            <a:off x="882655" y="1177041"/>
            <a:ext cx="10136327" cy="4983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Y" sz="2000" dirty="0" smtClean="0">
                <a:latin typeface="+mj-lt"/>
                <a:cs typeface="Times New Roman" panose="02020603050405020304" pitchFamily="18" charset="0"/>
              </a:rPr>
              <a:t>مجموعة البيانات التي تم سحبها</a:t>
            </a:r>
            <a:endParaRPr lang="en-US" sz="20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1" name="Google Shape;443;p40">
            <a:extLst>
              <a:ext uri="{FF2B5EF4-FFF2-40B4-BE49-F238E27FC236}">
                <a16:creationId xmlns:a16="http://schemas.microsoft.com/office/drawing/2014/main" id="{DE00EDF9-979B-FC11-C7EA-382B6F304276}"/>
              </a:ext>
            </a:extLst>
          </p:cNvPr>
          <p:cNvSpPr txBox="1">
            <a:spLocks noGrp="1"/>
          </p:cNvSpPr>
          <p:nvPr/>
        </p:nvSpPr>
        <p:spPr>
          <a:xfrm>
            <a:off x="4165601" y="308317"/>
            <a:ext cx="7182141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r"/>
            <a:r>
              <a:rPr lang="ar-SY" dirty="0" smtClean="0">
                <a:solidFill>
                  <a:schemeClr val="bg2">
                    <a:lumMod val="65000"/>
                    <a:lumOff val="35000"/>
                  </a:schemeClr>
                </a:solidFill>
              </a:rPr>
              <a:t>جمع البيانات</a:t>
            </a:r>
            <a:endParaRPr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مربع نص 11"/>
          <p:cNvSpPr txBox="1"/>
          <p:nvPr/>
        </p:nvSpPr>
        <p:spPr>
          <a:xfrm>
            <a:off x="2857612" y="1926784"/>
            <a:ext cx="769955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 smtClean="0">
                <a:latin typeface="+mj-lt"/>
                <a:cs typeface="Times New Roman" panose="02020603050405020304" pitchFamily="18" charset="0"/>
              </a:rPr>
              <a:t>~</a:t>
            </a:r>
            <a:r>
              <a:rPr lang="en-US" sz="2000" dirty="0" smtClean="0">
                <a:latin typeface="+mj-lt"/>
                <a:cs typeface="Times New Roman" panose="02020603050405020304" pitchFamily="18" charset="0"/>
              </a:rPr>
              <a:t>23,000 </a:t>
            </a:r>
            <a:r>
              <a:rPr lang="en-US" sz="2000" dirty="0" smtClean="0">
                <a:latin typeface="+mj-lt"/>
                <a:cs typeface="Times New Roman" panose="02020603050405020304" pitchFamily="18" charset="0"/>
              </a:rPr>
              <a:t>Tweet</a:t>
            </a:r>
            <a:endParaRPr lang="ar-SY" sz="2000" dirty="0" smtClean="0">
              <a:latin typeface="+mj-lt"/>
              <a:cs typeface="Times New Roman" panose="02020603050405020304" pitchFamily="18" charset="0"/>
            </a:endParaRPr>
          </a:p>
          <a:p>
            <a:pPr marL="342900" indent="-34290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SY" sz="2000" dirty="0" smtClean="0">
                <a:latin typeface="+mj-lt"/>
                <a:cs typeface="Times New Roman" panose="02020603050405020304" pitchFamily="18" charset="0"/>
              </a:rPr>
              <a:t>من 1ولغاية 31 أيار 2025</a:t>
            </a:r>
          </a:p>
          <a:p>
            <a:pPr marL="342900" indent="-34290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SY" sz="2000" dirty="0" smtClean="0">
                <a:latin typeface="+mj-lt"/>
                <a:cs typeface="Times New Roman" panose="02020603050405020304" pitchFamily="18" charset="0"/>
              </a:rPr>
              <a:t>تنتمي لـ </a:t>
            </a:r>
            <a:r>
              <a:rPr lang="ar-SY" sz="2000" dirty="0" smtClean="0">
                <a:latin typeface="+mj-lt"/>
                <a:cs typeface="Times New Roman" panose="02020603050405020304" pitchFamily="18" charset="0"/>
              </a:rPr>
              <a:t>107 </a:t>
            </a:r>
            <a:r>
              <a:rPr lang="ar-SY" sz="2000" dirty="0" smtClean="0">
                <a:latin typeface="+mj-lt"/>
                <a:cs typeface="Times New Roman" panose="02020603050405020304" pitchFamily="18" charset="0"/>
              </a:rPr>
              <a:t>حدث </a:t>
            </a:r>
          </a:p>
          <a:p>
            <a:pPr marL="342900" indent="-34290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SY" sz="2000" dirty="0" smtClean="0">
                <a:latin typeface="+mj-lt"/>
                <a:cs typeface="Times New Roman" panose="02020603050405020304" pitchFamily="18" charset="0"/>
              </a:rPr>
              <a:t>تم تنميط </a:t>
            </a:r>
            <a:r>
              <a:rPr lang="en-US" sz="2000" dirty="0" smtClean="0">
                <a:latin typeface="+mj-lt"/>
                <a:cs typeface="Times New Roman" panose="02020603050405020304" pitchFamily="18" charset="0"/>
              </a:rPr>
              <a:t>4,500 </a:t>
            </a:r>
            <a:r>
              <a:rPr lang="en-US" sz="2000" dirty="0" smtClean="0">
                <a:latin typeface="+mj-lt"/>
                <a:cs typeface="Times New Roman" panose="02020603050405020304" pitchFamily="18" charset="0"/>
              </a:rPr>
              <a:t>Tweet </a:t>
            </a:r>
            <a:r>
              <a:rPr lang="ar-SY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ar-SY" sz="2000" dirty="0" smtClean="0">
                <a:latin typeface="+mj-lt"/>
                <a:cs typeface="Times New Roman" panose="02020603050405020304" pitchFamily="18" charset="0"/>
              </a:rPr>
              <a:t>يدوياً</a:t>
            </a:r>
          </a:p>
          <a:p>
            <a:pPr marL="342900" indent="-34290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ar-SY" sz="2000" dirty="0" smtClean="0">
              <a:latin typeface="+mj-lt"/>
              <a:cs typeface="Times New Roman" panose="02020603050405020304" pitchFamily="18" charset="0"/>
            </a:endParaRPr>
          </a:p>
          <a:p>
            <a:pPr marL="342900" indent="-34290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ar-SY" sz="2000" dirty="0" smtClean="0">
              <a:latin typeface="+mj-lt"/>
              <a:cs typeface="Times New Roman" panose="02020603050405020304" pitchFamily="18" charset="0"/>
            </a:endParaRPr>
          </a:p>
          <a:p>
            <a:pPr marL="342900" indent="-34290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sz="2000" dirty="0" smtClean="0">
              <a:latin typeface="+mj-lt"/>
              <a:cs typeface="Times New Roman" panose="02020603050405020304" pitchFamily="18" charset="0"/>
            </a:endParaRPr>
          </a:p>
          <a:p>
            <a:pPr marL="342900" indent="-34290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sz="2000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10" name="صورة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101" y="1979676"/>
            <a:ext cx="6820761" cy="283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933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3"/>
          <p:cNvSpPr txBox="1">
            <a:spLocks noGrp="1"/>
          </p:cNvSpPr>
          <p:nvPr>
            <p:ph type="sldNum" idx="12"/>
          </p:nvPr>
        </p:nvSpPr>
        <p:spPr>
          <a:xfrm>
            <a:off x="11347742" y="6346858"/>
            <a:ext cx="382295" cy="19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6" name="Google Shape;350;p43"/>
          <p:cNvSpPr txBox="1">
            <a:spLocks/>
          </p:cNvSpPr>
          <p:nvPr/>
        </p:nvSpPr>
        <p:spPr>
          <a:xfrm>
            <a:off x="4308475" y="6351503"/>
            <a:ext cx="4678209" cy="188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800" dirty="0" smtClean="0"/>
              <a:t>Event Detection and Monitoring in Social Media</a:t>
            </a:r>
            <a:endParaRPr lang="en-US" sz="1800" dirty="0"/>
          </a:p>
        </p:txBody>
      </p:sp>
      <p:sp>
        <p:nvSpPr>
          <p:cNvPr id="8" name="Google Shape;443;p40">
            <a:extLst>
              <a:ext uri="{FF2B5EF4-FFF2-40B4-BE49-F238E27FC236}">
                <a16:creationId xmlns:a16="http://schemas.microsoft.com/office/drawing/2014/main" id="{DE00EDF9-979B-FC11-C7EA-382B6F304276}"/>
              </a:ext>
            </a:extLst>
          </p:cNvPr>
          <p:cNvSpPr txBox="1">
            <a:spLocks noGrp="1"/>
          </p:cNvSpPr>
          <p:nvPr/>
        </p:nvSpPr>
        <p:spPr>
          <a:xfrm>
            <a:off x="580101" y="299081"/>
            <a:ext cx="7704000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Google Shape;443;p40">
            <a:extLst>
              <a:ext uri="{FF2B5EF4-FFF2-40B4-BE49-F238E27FC236}">
                <a16:creationId xmlns:a16="http://schemas.microsoft.com/office/drawing/2014/main" id="{DE00EDF9-979B-FC11-C7EA-382B6F304276}"/>
              </a:ext>
            </a:extLst>
          </p:cNvPr>
          <p:cNvSpPr txBox="1">
            <a:spLocks noGrp="1"/>
          </p:cNvSpPr>
          <p:nvPr/>
        </p:nvSpPr>
        <p:spPr>
          <a:xfrm>
            <a:off x="4165601" y="299081"/>
            <a:ext cx="7182141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r"/>
            <a:r>
              <a:rPr lang="ar-SY" dirty="0" smtClean="0">
                <a:solidFill>
                  <a:schemeClr val="bg2">
                    <a:lumMod val="65000"/>
                    <a:lumOff val="35000"/>
                  </a:schemeClr>
                </a:solidFill>
              </a:rPr>
              <a:t>الحل المقترح</a:t>
            </a:r>
            <a:endParaRPr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1" name="صورة 10" descr="D:\SAS\SAS.GPDocs\Methodology\methodology-Page-114.drawio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760" y="1031296"/>
            <a:ext cx="7921019" cy="46228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77441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3"/>
          <p:cNvSpPr txBox="1">
            <a:spLocks noGrp="1"/>
          </p:cNvSpPr>
          <p:nvPr>
            <p:ph type="sldNum" idx="12"/>
          </p:nvPr>
        </p:nvSpPr>
        <p:spPr>
          <a:xfrm>
            <a:off x="11347742" y="6346858"/>
            <a:ext cx="382295" cy="19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6" name="Google Shape;350;p43"/>
          <p:cNvSpPr txBox="1">
            <a:spLocks/>
          </p:cNvSpPr>
          <p:nvPr/>
        </p:nvSpPr>
        <p:spPr>
          <a:xfrm>
            <a:off x="4308475" y="6351503"/>
            <a:ext cx="4678209" cy="188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800" dirty="0" smtClean="0"/>
              <a:t>Event Detection and Monitoring in Social Media</a:t>
            </a:r>
            <a:endParaRPr lang="en-US" sz="1800" dirty="0"/>
          </a:p>
        </p:txBody>
      </p:sp>
      <p:sp>
        <p:nvSpPr>
          <p:cNvPr id="8" name="Google Shape;443;p40">
            <a:extLst>
              <a:ext uri="{FF2B5EF4-FFF2-40B4-BE49-F238E27FC236}">
                <a16:creationId xmlns:a16="http://schemas.microsoft.com/office/drawing/2014/main" id="{DE00EDF9-979B-FC11-C7EA-382B6F304276}"/>
              </a:ext>
            </a:extLst>
          </p:cNvPr>
          <p:cNvSpPr txBox="1">
            <a:spLocks noGrp="1"/>
          </p:cNvSpPr>
          <p:nvPr/>
        </p:nvSpPr>
        <p:spPr>
          <a:xfrm>
            <a:off x="580101" y="299081"/>
            <a:ext cx="7704000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Google Shape;443;p40">
            <a:extLst>
              <a:ext uri="{FF2B5EF4-FFF2-40B4-BE49-F238E27FC236}">
                <a16:creationId xmlns:a16="http://schemas.microsoft.com/office/drawing/2014/main" id="{DE00EDF9-979B-FC11-C7EA-382B6F304276}"/>
              </a:ext>
            </a:extLst>
          </p:cNvPr>
          <p:cNvSpPr txBox="1">
            <a:spLocks noGrp="1"/>
          </p:cNvSpPr>
          <p:nvPr/>
        </p:nvSpPr>
        <p:spPr>
          <a:xfrm>
            <a:off x="4165601" y="308317"/>
            <a:ext cx="7182141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r"/>
            <a:r>
              <a:rPr lang="ar-SY" dirty="0" smtClean="0">
                <a:solidFill>
                  <a:schemeClr val="bg2">
                    <a:lumMod val="65000"/>
                    <a:lumOff val="35000"/>
                  </a:schemeClr>
                </a:solidFill>
              </a:rPr>
              <a:t>نتائج مرحلة فلترة التغريدات</a:t>
            </a:r>
            <a:endParaRPr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14" name="مخطط 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4022512"/>
              </p:ext>
            </p:extLst>
          </p:nvPr>
        </p:nvGraphicFramePr>
        <p:xfrm>
          <a:off x="3810000" y="2057400"/>
          <a:ext cx="5176684" cy="3675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673527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3"/>
          <p:cNvSpPr txBox="1">
            <a:spLocks noGrp="1"/>
          </p:cNvSpPr>
          <p:nvPr>
            <p:ph type="sldNum" idx="12"/>
          </p:nvPr>
        </p:nvSpPr>
        <p:spPr>
          <a:xfrm>
            <a:off x="11347742" y="6346858"/>
            <a:ext cx="382295" cy="19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6" name="Google Shape;350;p43"/>
          <p:cNvSpPr txBox="1">
            <a:spLocks/>
          </p:cNvSpPr>
          <p:nvPr/>
        </p:nvSpPr>
        <p:spPr>
          <a:xfrm>
            <a:off x="4308475" y="6351503"/>
            <a:ext cx="4678209" cy="188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800" dirty="0" smtClean="0"/>
              <a:t>Event Detection and Monitoring in Social Media</a:t>
            </a:r>
            <a:endParaRPr lang="en-US" sz="1800" dirty="0"/>
          </a:p>
        </p:txBody>
      </p:sp>
      <p:sp>
        <p:nvSpPr>
          <p:cNvPr id="8" name="Google Shape;443;p40">
            <a:extLst>
              <a:ext uri="{FF2B5EF4-FFF2-40B4-BE49-F238E27FC236}">
                <a16:creationId xmlns:a16="http://schemas.microsoft.com/office/drawing/2014/main" id="{DE00EDF9-979B-FC11-C7EA-382B6F304276}"/>
              </a:ext>
            </a:extLst>
          </p:cNvPr>
          <p:cNvSpPr txBox="1">
            <a:spLocks noGrp="1"/>
          </p:cNvSpPr>
          <p:nvPr/>
        </p:nvSpPr>
        <p:spPr>
          <a:xfrm>
            <a:off x="580101" y="299081"/>
            <a:ext cx="7704000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Google Shape;443;p40">
            <a:extLst>
              <a:ext uri="{FF2B5EF4-FFF2-40B4-BE49-F238E27FC236}">
                <a16:creationId xmlns:a16="http://schemas.microsoft.com/office/drawing/2014/main" id="{DE00EDF9-979B-FC11-C7EA-382B6F304276}"/>
              </a:ext>
            </a:extLst>
          </p:cNvPr>
          <p:cNvSpPr txBox="1">
            <a:spLocks noGrp="1"/>
          </p:cNvSpPr>
          <p:nvPr/>
        </p:nvSpPr>
        <p:spPr>
          <a:xfrm>
            <a:off x="4165601" y="299081"/>
            <a:ext cx="7182141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r"/>
            <a:r>
              <a:rPr lang="ar-SY" dirty="0" smtClean="0">
                <a:solidFill>
                  <a:schemeClr val="bg2">
                    <a:lumMod val="65000"/>
                    <a:lumOff val="35000"/>
                  </a:schemeClr>
                </a:solidFill>
              </a:rPr>
              <a:t>نتائج كشف الأحداث</a:t>
            </a:r>
            <a:endParaRPr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4" name="صورة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9451" y="1469293"/>
            <a:ext cx="6375995" cy="383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842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3"/>
          <p:cNvSpPr txBox="1">
            <a:spLocks noGrp="1"/>
          </p:cNvSpPr>
          <p:nvPr>
            <p:ph type="sldNum" idx="12"/>
          </p:nvPr>
        </p:nvSpPr>
        <p:spPr>
          <a:xfrm>
            <a:off x="11347742" y="6346858"/>
            <a:ext cx="382295" cy="19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6" name="Google Shape;350;p43"/>
          <p:cNvSpPr txBox="1">
            <a:spLocks/>
          </p:cNvSpPr>
          <p:nvPr/>
        </p:nvSpPr>
        <p:spPr>
          <a:xfrm>
            <a:off x="4308475" y="6351503"/>
            <a:ext cx="4678209" cy="188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800" dirty="0" smtClean="0"/>
              <a:t>Event Detection and Monitoring in Social Media</a:t>
            </a:r>
            <a:endParaRPr lang="en-US" sz="1800" dirty="0"/>
          </a:p>
        </p:txBody>
      </p:sp>
      <p:sp>
        <p:nvSpPr>
          <p:cNvPr id="8" name="Google Shape;443;p40">
            <a:extLst>
              <a:ext uri="{FF2B5EF4-FFF2-40B4-BE49-F238E27FC236}">
                <a16:creationId xmlns:a16="http://schemas.microsoft.com/office/drawing/2014/main" id="{DE00EDF9-979B-FC11-C7EA-382B6F304276}"/>
              </a:ext>
            </a:extLst>
          </p:cNvPr>
          <p:cNvSpPr txBox="1">
            <a:spLocks noGrp="1"/>
          </p:cNvSpPr>
          <p:nvPr/>
        </p:nvSpPr>
        <p:spPr>
          <a:xfrm>
            <a:off x="580101" y="299081"/>
            <a:ext cx="7704000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Google Shape;443;p40">
            <a:extLst>
              <a:ext uri="{FF2B5EF4-FFF2-40B4-BE49-F238E27FC236}">
                <a16:creationId xmlns:a16="http://schemas.microsoft.com/office/drawing/2014/main" id="{DE00EDF9-979B-FC11-C7EA-382B6F304276}"/>
              </a:ext>
            </a:extLst>
          </p:cNvPr>
          <p:cNvSpPr txBox="1">
            <a:spLocks noGrp="1"/>
          </p:cNvSpPr>
          <p:nvPr/>
        </p:nvSpPr>
        <p:spPr>
          <a:xfrm>
            <a:off x="4165601" y="299081"/>
            <a:ext cx="7182141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r"/>
            <a:r>
              <a:rPr lang="ar-SY" dirty="0" smtClean="0">
                <a:solidFill>
                  <a:schemeClr val="bg2">
                    <a:lumMod val="65000"/>
                    <a:lumOff val="35000"/>
                  </a:schemeClr>
                </a:solidFill>
              </a:rPr>
              <a:t>نتائج كشف الأحداث</a:t>
            </a:r>
            <a:endParaRPr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" name="صورة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668" y="1450821"/>
            <a:ext cx="6329894" cy="3804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54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3"/>
          <p:cNvSpPr txBox="1">
            <a:spLocks noGrp="1"/>
          </p:cNvSpPr>
          <p:nvPr>
            <p:ph type="sldNum" idx="12"/>
          </p:nvPr>
        </p:nvSpPr>
        <p:spPr>
          <a:xfrm>
            <a:off x="11347742" y="6346858"/>
            <a:ext cx="382295" cy="19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6" name="Google Shape;350;p43"/>
          <p:cNvSpPr txBox="1">
            <a:spLocks/>
          </p:cNvSpPr>
          <p:nvPr/>
        </p:nvSpPr>
        <p:spPr>
          <a:xfrm>
            <a:off x="4308475" y="6351503"/>
            <a:ext cx="4678209" cy="188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800" dirty="0" smtClean="0"/>
              <a:t>Event Detection and Monitoring in Social Media</a:t>
            </a:r>
            <a:endParaRPr lang="en-US" sz="1800" dirty="0"/>
          </a:p>
        </p:txBody>
      </p:sp>
      <p:sp>
        <p:nvSpPr>
          <p:cNvPr id="8" name="Google Shape;443;p40">
            <a:extLst>
              <a:ext uri="{FF2B5EF4-FFF2-40B4-BE49-F238E27FC236}">
                <a16:creationId xmlns:a16="http://schemas.microsoft.com/office/drawing/2014/main" id="{DE00EDF9-979B-FC11-C7EA-382B6F304276}"/>
              </a:ext>
            </a:extLst>
          </p:cNvPr>
          <p:cNvSpPr txBox="1">
            <a:spLocks noGrp="1"/>
          </p:cNvSpPr>
          <p:nvPr/>
        </p:nvSpPr>
        <p:spPr>
          <a:xfrm>
            <a:off x="580101" y="299081"/>
            <a:ext cx="7704000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Google Shape;443;p40">
            <a:extLst>
              <a:ext uri="{FF2B5EF4-FFF2-40B4-BE49-F238E27FC236}">
                <a16:creationId xmlns:a16="http://schemas.microsoft.com/office/drawing/2014/main" id="{DE00EDF9-979B-FC11-C7EA-382B6F304276}"/>
              </a:ext>
            </a:extLst>
          </p:cNvPr>
          <p:cNvSpPr txBox="1">
            <a:spLocks noGrp="1"/>
          </p:cNvSpPr>
          <p:nvPr/>
        </p:nvSpPr>
        <p:spPr>
          <a:xfrm>
            <a:off x="4165601" y="299081"/>
            <a:ext cx="7182141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r"/>
            <a:r>
              <a:rPr lang="ar-SY" dirty="0" smtClean="0">
                <a:solidFill>
                  <a:schemeClr val="bg2">
                    <a:lumMod val="65000"/>
                    <a:lumOff val="35000"/>
                  </a:schemeClr>
                </a:solidFill>
              </a:rPr>
              <a:t>نتائج كشف الأحداث</a:t>
            </a:r>
            <a:endParaRPr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صورة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178" y="1533947"/>
            <a:ext cx="6391360" cy="3841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529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3"/>
          <p:cNvSpPr txBox="1">
            <a:spLocks noGrp="1"/>
          </p:cNvSpPr>
          <p:nvPr>
            <p:ph type="sldNum" idx="12"/>
          </p:nvPr>
        </p:nvSpPr>
        <p:spPr>
          <a:xfrm>
            <a:off x="11347742" y="6346858"/>
            <a:ext cx="382295" cy="19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6" name="Google Shape;350;p43"/>
          <p:cNvSpPr txBox="1">
            <a:spLocks/>
          </p:cNvSpPr>
          <p:nvPr/>
        </p:nvSpPr>
        <p:spPr>
          <a:xfrm>
            <a:off x="4308475" y="6351503"/>
            <a:ext cx="4678209" cy="188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800" dirty="0" smtClean="0"/>
              <a:t>Event Detection and Monitoring in Social Media</a:t>
            </a:r>
            <a:endParaRPr lang="en-US" sz="1800" dirty="0"/>
          </a:p>
        </p:txBody>
      </p:sp>
      <p:sp>
        <p:nvSpPr>
          <p:cNvPr id="8" name="Google Shape;443;p40">
            <a:extLst>
              <a:ext uri="{FF2B5EF4-FFF2-40B4-BE49-F238E27FC236}">
                <a16:creationId xmlns:a16="http://schemas.microsoft.com/office/drawing/2014/main" id="{DE00EDF9-979B-FC11-C7EA-382B6F304276}"/>
              </a:ext>
            </a:extLst>
          </p:cNvPr>
          <p:cNvSpPr txBox="1">
            <a:spLocks noGrp="1"/>
          </p:cNvSpPr>
          <p:nvPr/>
        </p:nvSpPr>
        <p:spPr>
          <a:xfrm>
            <a:off x="580101" y="299081"/>
            <a:ext cx="7704000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Google Shape;443;p40">
            <a:extLst>
              <a:ext uri="{FF2B5EF4-FFF2-40B4-BE49-F238E27FC236}">
                <a16:creationId xmlns:a16="http://schemas.microsoft.com/office/drawing/2014/main" id="{DE00EDF9-979B-FC11-C7EA-382B6F304276}"/>
              </a:ext>
            </a:extLst>
          </p:cNvPr>
          <p:cNvSpPr txBox="1">
            <a:spLocks noGrp="1"/>
          </p:cNvSpPr>
          <p:nvPr/>
        </p:nvSpPr>
        <p:spPr>
          <a:xfrm>
            <a:off x="4165601" y="299081"/>
            <a:ext cx="7182141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r"/>
            <a:r>
              <a:rPr lang="ar-SY" dirty="0" smtClean="0">
                <a:solidFill>
                  <a:schemeClr val="bg2">
                    <a:lumMod val="65000"/>
                    <a:lumOff val="35000"/>
                  </a:schemeClr>
                </a:solidFill>
              </a:rPr>
              <a:t>نتائج كشف الأحداث</a:t>
            </a:r>
            <a:endParaRPr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" name="صورة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2459" y="1079295"/>
            <a:ext cx="7262374" cy="5005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615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3"/>
          <p:cNvSpPr txBox="1">
            <a:spLocks noGrp="1"/>
          </p:cNvSpPr>
          <p:nvPr>
            <p:ph type="sldNum" idx="12"/>
          </p:nvPr>
        </p:nvSpPr>
        <p:spPr>
          <a:xfrm>
            <a:off x="11347742" y="6346858"/>
            <a:ext cx="382295" cy="19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6" name="Google Shape;350;p43"/>
          <p:cNvSpPr txBox="1">
            <a:spLocks/>
          </p:cNvSpPr>
          <p:nvPr/>
        </p:nvSpPr>
        <p:spPr>
          <a:xfrm>
            <a:off x="4308475" y="6351503"/>
            <a:ext cx="4678209" cy="188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800" dirty="0" smtClean="0"/>
              <a:t>Event Detection and Monitoring in Social Media</a:t>
            </a:r>
            <a:endParaRPr lang="en-US" sz="1800" dirty="0"/>
          </a:p>
        </p:txBody>
      </p:sp>
      <p:sp>
        <p:nvSpPr>
          <p:cNvPr id="8" name="Google Shape;443;p40">
            <a:extLst>
              <a:ext uri="{FF2B5EF4-FFF2-40B4-BE49-F238E27FC236}">
                <a16:creationId xmlns:a16="http://schemas.microsoft.com/office/drawing/2014/main" id="{DE00EDF9-979B-FC11-C7EA-382B6F304276}"/>
              </a:ext>
            </a:extLst>
          </p:cNvPr>
          <p:cNvSpPr txBox="1">
            <a:spLocks noGrp="1"/>
          </p:cNvSpPr>
          <p:nvPr/>
        </p:nvSpPr>
        <p:spPr>
          <a:xfrm>
            <a:off x="580101" y="299081"/>
            <a:ext cx="7704000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Google Shape;443;p40">
            <a:extLst>
              <a:ext uri="{FF2B5EF4-FFF2-40B4-BE49-F238E27FC236}">
                <a16:creationId xmlns:a16="http://schemas.microsoft.com/office/drawing/2014/main" id="{DE00EDF9-979B-FC11-C7EA-382B6F304276}"/>
              </a:ext>
            </a:extLst>
          </p:cNvPr>
          <p:cNvSpPr txBox="1">
            <a:spLocks noGrp="1"/>
          </p:cNvSpPr>
          <p:nvPr/>
        </p:nvSpPr>
        <p:spPr>
          <a:xfrm>
            <a:off x="4165601" y="308317"/>
            <a:ext cx="7182141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r"/>
            <a:r>
              <a:rPr lang="ar-SY" dirty="0" smtClean="0">
                <a:solidFill>
                  <a:schemeClr val="bg2">
                    <a:lumMod val="65000"/>
                    <a:lumOff val="35000"/>
                  </a:schemeClr>
                </a:solidFill>
              </a:rPr>
              <a:t>تصميم النظام</a:t>
            </a:r>
            <a:endParaRPr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0" name="صورة 9" descr="D:\SAS\SAS.GPDocs\Methodology\methodology-Design-2.drawio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2926" y="1118697"/>
            <a:ext cx="7774711" cy="47002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96882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3"/>
          <p:cNvSpPr txBox="1">
            <a:spLocks noGrp="1"/>
          </p:cNvSpPr>
          <p:nvPr>
            <p:ph type="sldNum" idx="12"/>
          </p:nvPr>
        </p:nvSpPr>
        <p:spPr>
          <a:xfrm>
            <a:off x="11347742" y="6346858"/>
            <a:ext cx="382295" cy="19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6" name="Google Shape;350;p43"/>
          <p:cNvSpPr txBox="1">
            <a:spLocks/>
          </p:cNvSpPr>
          <p:nvPr/>
        </p:nvSpPr>
        <p:spPr>
          <a:xfrm>
            <a:off x="4308475" y="6351503"/>
            <a:ext cx="4678209" cy="188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800" dirty="0" smtClean="0"/>
              <a:t>Event Detection and Monitoring in Social Media</a:t>
            </a:r>
            <a:endParaRPr lang="en-US" sz="1800" dirty="0"/>
          </a:p>
        </p:txBody>
      </p:sp>
      <p:sp>
        <p:nvSpPr>
          <p:cNvPr id="8" name="Google Shape;443;p40">
            <a:extLst>
              <a:ext uri="{FF2B5EF4-FFF2-40B4-BE49-F238E27FC236}">
                <a16:creationId xmlns:a16="http://schemas.microsoft.com/office/drawing/2014/main" id="{DE00EDF9-979B-FC11-C7EA-382B6F304276}"/>
              </a:ext>
            </a:extLst>
          </p:cNvPr>
          <p:cNvSpPr txBox="1">
            <a:spLocks noGrp="1"/>
          </p:cNvSpPr>
          <p:nvPr/>
        </p:nvSpPr>
        <p:spPr>
          <a:xfrm>
            <a:off x="580101" y="299081"/>
            <a:ext cx="7704000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Google Shape;443;p40">
            <a:extLst>
              <a:ext uri="{FF2B5EF4-FFF2-40B4-BE49-F238E27FC236}">
                <a16:creationId xmlns:a16="http://schemas.microsoft.com/office/drawing/2014/main" id="{DE00EDF9-979B-FC11-C7EA-382B6F304276}"/>
              </a:ext>
            </a:extLst>
          </p:cNvPr>
          <p:cNvSpPr txBox="1">
            <a:spLocks noGrp="1"/>
          </p:cNvSpPr>
          <p:nvPr/>
        </p:nvSpPr>
        <p:spPr>
          <a:xfrm>
            <a:off x="4165601" y="308317"/>
            <a:ext cx="7182141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r"/>
            <a:r>
              <a:rPr lang="ar-SY" dirty="0" smtClean="0">
                <a:solidFill>
                  <a:schemeClr val="bg2">
                    <a:lumMod val="65000"/>
                    <a:lumOff val="35000"/>
                  </a:schemeClr>
                </a:solidFill>
              </a:rPr>
              <a:t>خدمة سحب البيانات</a:t>
            </a:r>
            <a:endParaRPr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3" name="صورة 12"/>
          <p:cNvPicPr/>
          <p:nvPr/>
        </p:nvPicPr>
        <p:blipFill>
          <a:blip r:embed="rId3"/>
          <a:stretch>
            <a:fillRect/>
          </a:stretch>
        </p:blipFill>
        <p:spPr>
          <a:xfrm>
            <a:off x="1042381" y="1028411"/>
            <a:ext cx="5238346" cy="4633480"/>
          </a:xfrm>
          <a:prstGeom prst="rect">
            <a:avLst/>
          </a:prstGeom>
        </p:spPr>
      </p:pic>
      <p:sp>
        <p:nvSpPr>
          <p:cNvPr id="14" name="مربع نص 13"/>
          <p:cNvSpPr txBox="1"/>
          <p:nvPr/>
        </p:nvSpPr>
        <p:spPr>
          <a:xfrm>
            <a:off x="3467212" y="1391075"/>
            <a:ext cx="769955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SY" sz="2000" dirty="0" smtClean="0">
                <a:latin typeface="+mj-lt"/>
                <a:cs typeface="Times New Roman" panose="02020603050405020304" pitchFamily="18" charset="0"/>
              </a:rPr>
              <a:t>مهمة هذه الخدمة هي سحب البيانات من وسائل التواصل</a:t>
            </a:r>
          </a:p>
          <a:p>
            <a:pPr marL="342900" indent="-34290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SY" sz="2000" dirty="0" smtClean="0">
                <a:latin typeface="+mj-lt"/>
                <a:cs typeface="Times New Roman" panose="02020603050405020304" pitchFamily="18" charset="0"/>
              </a:rPr>
              <a:t>تقوم بمعالج لاحقة على البيانات</a:t>
            </a:r>
          </a:p>
          <a:p>
            <a:pPr lvl="1" algn="r" rtl="1">
              <a:lnSpc>
                <a:spcPct val="150000"/>
              </a:lnSpc>
            </a:pPr>
            <a:r>
              <a:rPr lang="ar-SY" sz="2000" dirty="0">
                <a:latin typeface="+mj-lt"/>
                <a:cs typeface="Times New Roman" panose="02020603050405020304" pitchFamily="18" charset="0"/>
              </a:rPr>
              <a:t>  </a:t>
            </a:r>
            <a:r>
              <a:rPr lang="ar-SY" sz="2000" dirty="0" smtClean="0">
                <a:latin typeface="+mj-lt"/>
                <a:cs typeface="Times New Roman" panose="02020603050405020304" pitchFamily="18" charset="0"/>
              </a:rPr>
              <a:t>     مثل، تضمين الرسائل، فلترتها</a:t>
            </a:r>
          </a:p>
          <a:p>
            <a:pPr lvl="1" algn="r" rtl="1">
              <a:lnSpc>
                <a:spcPct val="150000"/>
              </a:lnSpc>
            </a:pPr>
            <a:r>
              <a:rPr lang="ar-SY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ar-SY" sz="2000" dirty="0" smtClean="0">
                <a:latin typeface="+mj-lt"/>
                <a:cs typeface="Times New Roman" panose="02020603050405020304" pitchFamily="18" charset="0"/>
              </a:rPr>
              <a:t>            استخراج الكيانات المسماة</a:t>
            </a:r>
            <a:endParaRPr lang="en-US" sz="2000" dirty="0"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7341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3"/>
          <p:cNvSpPr txBox="1">
            <a:spLocks noGrp="1"/>
          </p:cNvSpPr>
          <p:nvPr>
            <p:ph type="sldNum" idx="12"/>
          </p:nvPr>
        </p:nvSpPr>
        <p:spPr>
          <a:xfrm>
            <a:off x="11347742" y="6346858"/>
            <a:ext cx="382295" cy="19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6" name="Google Shape;350;p43"/>
          <p:cNvSpPr txBox="1">
            <a:spLocks/>
          </p:cNvSpPr>
          <p:nvPr/>
        </p:nvSpPr>
        <p:spPr>
          <a:xfrm>
            <a:off x="4308475" y="6351503"/>
            <a:ext cx="4678209" cy="188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800" dirty="0" smtClean="0"/>
              <a:t>Event Detection and Monitoring in Social Media</a:t>
            </a:r>
            <a:endParaRPr lang="en-US" sz="1800" dirty="0"/>
          </a:p>
        </p:txBody>
      </p:sp>
      <p:sp>
        <p:nvSpPr>
          <p:cNvPr id="8" name="Google Shape;443;p40">
            <a:extLst>
              <a:ext uri="{FF2B5EF4-FFF2-40B4-BE49-F238E27FC236}">
                <a16:creationId xmlns:a16="http://schemas.microsoft.com/office/drawing/2014/main" id="{DE00EDF9-979B-FC11-C7EA-382B6F304276}"/>
              </a:ext>
            </a:extLst>
          </p:cNvPr>
          <p:cNvSpPr txBox="1">
            <a:spLocks noGrp="1"/>
          </p:cNvSpPr>
          <p:nvPr/>
        </p:nvSpPr>
        <p:spPr>
          <a:xfrm>
            <a:off x="580101" y="299081"/>
            <a:ext cx="7704000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Google Shape;443;p40">
            <a:extLst>
              <a:ext uri="{FF2B5EF4-FFF2-40B4-BE49-F238E27FC236}">
                <a16:creationId xmlns:a16="http://schemas.microsoft.com/office/drawing/2014/main" id="{DE00EDF9-979B-FC11-C7EA-382B6F304276}"/>
              </a:ext>
            </a:extLst>
          </p:cNvPr>
          <p:cNvSpPr txBox="1">
            <a:spLocks noGrp="1"/>
          </p:cNvSpPr>
          <p:nvPr/>
        </p:nvSpPr>
        <p:spPr>
          <a:xfrm>
            <a:off x="4165601" y="308317"/>
            <a:ext cx="7182141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r"/>
            <a:r>
              <a:rPr lang="ar-SY" dirty="0" smtClean="0">
                <a:solidFill>
                  <a:schemeClr val="bg2">
                    <a:lumMod val="65000"/>
                    <a:lumOff val="35000"/>
                  </a:schemeClr>
                </a:solidFill>
              </a:rPr>
              <a:t>خدمة سحب البيانات</a:t>
            </a:r>
            <a:endParaRPr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1" name="صورة 10" descr="D:\SAS\SAS.GPDocs\System Design\System Architecture-scraper pattern.drawio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1472" y="1985211"/>
            <a:ext cx="7783945" cy="3159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07449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3"/>
          <p:cNvSpPr txBox="1">
            <a:spLocks noGrp="1"/>
          </p:cNvSpPr>
          <p:nvPr>
            <p:ph type="sldNum" idx="12"/>
          </p:nvPr>
        </p:nvSpPr>
        <p:spPr>
          <a:xfrm>
            <a:off x="11347742" y="6346858"/>
            <a:ext cx="382295" cy="19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6" name="Google Shape;350;p43"/>
          <p:cNvSpPr txBox="1">
            <a:spLocks/>
          </p:cNvSpPr>
          <p:nvPr/>
        </p:nvSpPr>
        <p:spPr>
          <a:xfrm>
            <a:off x="4308475" y="6351503"/>
            <a:ext cx="4678209" cy="188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800" dirty="0" smtClean="0"/>
              <a:t>Event Detection and Monitoring in Social Media</a:t>
            </a:r>
            <a:endParaRPr lang="en-US" sz="1800" dirty="0"/>
          </a:p>
        </p:txBody>
      </p:sp>
      <p:sp>
        <p:nvSpPr>
          <p:cNvPr id="8" name="Google Shape;443;p40">
            <a:extLst>
              <a:ext uri="{FF2B5EF4-FFF2-40B4-BE49-F238E27FC236}">
                <a16:creationId xmlns:a16="http://schemas.microsoft.com/office/drawing/2014/main" id="{DE00EDF9-979B-FC11-C7EA-382B6F304276}"/>
              </a:ext>
            </a:extLst>
          </p:cNvPr>
          <p:cNvSpPr txBox="1">
            <a:spLocks noGrp="1"/>
          </p:cNvSpPr>
          <p:nvPr/>
        </p:nvSpPr>
        <p:spPr>
          <a:xfrm>
            <a:off x="580101" y="299081"/>
            <a:ext cx="7704000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Google Shape;443;p40">
            <a:extLst>
              <a:ext uri="{FF2B5EF4-FFF2-40B4-BE49-F238E27FC236}">
                <a16:creationId xmlns:a16="http://schemas.microsoft.com/office/drawing/2014/main" id="{DE00EDF9-979B-FC11-C7EA-382B6F304276}"/>
              </a:ext>
            </a:extLst>
          </p:cNvPr>
          <p:cNvSpPr txBox="1">
            <a:spLocks noGrp="1"/>
          </p:cNvSpPr>
          <p:nvPr/>
        </p:nvSpPr>
        <p:spPr>
          <a:xfrm>
            <a:off x="4165601" y="308317"/>
            <a:ext cx="7182141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r"/>
            <a:r>
              <a:rPr lang="ar-SY" dirty="0" smtClean="0">
                <a:solidFill>
                  <a:schemeClr val="bg2">
                    <a:lumMod val="65000"/>
                    <a:lumOff val="35000"/>
                  </a:schemeClr>
                </a:solidFill>
              </a:rPr>
              <a:t>خدمة إدارة عمليات سحب البيانات</a:t>
            </a:r>
            <a:endParaRPr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مربع نص 13"/>
          <p:cNvSpPr txBox="1"/>
          <p:nvPr/>
        </p:nvSpPr>
        <p:spPr>
          <a:xfrm>
            <a:off x="3467212" y="1391075"/>
            <a:ext cx="7699551" cy="958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SY" sz="2000" dirty="0" smtClean="0">
                <a:latin typeface="+mj-lt"/>
                <a:cs typeface="Times New Roman" panose="02020603050405020304" pitchFamily="18" charset="0"/>
              </a:rPr>
              <a:t>مهمة هذه الخدمة هي إدارة مصادر البيانات</a:t>
            </a:r>
          </a:p>
          <a:p>
            <a:pPr marL="342900" indent="-34290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SY" sz="2000" dirty="0" smtClean="0">
                <a:latin typeface="+mj-lt"/>
                <a:cs typeface="Times New Roman" panose="02020603050405020304" pitchFamily="18" charset="0"/>
              </a:rPr>
              <a:t>إرسال المهام إلى خدمات سحب البيانات</a:t>
            </a:r>
            <a:endParaRPr lang="en-US" sz="2000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9" name="صورة 8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013" y="816881"/>
            <a:ext cx="5724398" cy="3686556"/>
          </a:xfrm>
          <a:prstGeom prst="rect">
            <a:avLst/>
          </a:prstGeom>
        </p:spPr>
      </p:pic>
      <p:pic>
        <p:nvPicPr>
          <p:cNvPr id="10" name="صورة 9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848" y="2751010"/>
            <a:ext cx="5505704" cy="304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749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3"/>
          <p:cNvSpPr txBox="1">
            <a:spLocks noGrp="1"/>
          </p:cNvSpPr>
          <p:nvPr>
            <p:ph type="sldNum" idx="12"/>
          </p:nvPr>
        </p:nvSpPr>
        <p:spPr>
          <a:xfrm>
            <a:off x="11347742" y="6346858"/>
            <a:ext cx="382295" cy="19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6" name="Google Shape;350;p43"/>
          <p:cNvSpPr txBox="1">
            <a:spLocks/>
          </p:cNvSpPr>
          <p:nvPr/>
        </p:nvSpPr>
        <p:spPr>
          <a:xfrm>
            <a:off x="4308475" y="6351503"/>
            <a:ext cx="4678209" cy="188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800" dirty="0" smtClean="0"/>
              <a:t>Event Detection and Monitoring in Social Media</a:t>
            </a:r>
            <a:endParaRPr lang="en-US" sz="1800" dirty="0"/>
          </a:p>
        </p:txBody>
      </p:sp>
      <p:sp>
        <p:nvSpPr>
          <p:cNvPr id="8" name="Google Shape;443;p40">
            <a:extLst>
              <a:ext uri="{FF2B5EF4-FFF2-40B4-BE49-F238E27FC236}">
                <a16:creationId xmlns:a16="http://schemas.microsoft.com/office/drawing/2014/main" id="{DE00EDF9-979B-FC11-C7EA-382B6F304276}"/>
              </a:ext>
            </a:extLst>
          </p:cNvPr>
          <p:cNvSpPr txBox="1">
            <a:spLocks noGrp="1"/>
          </p:cNvSpPr>
          <p:nvPr/>
        </p:nvSpPr>
        <p:spPr>
          <a:xfrm>
            <a:off x="580101" y="299081"/>
            <a:ext cx="7704000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Google Shape;443;p40">
            <a:extLst>
              <a:ext uri="{FF2B5EF4-FFF2-40B4-BE49-F238E27FC236}">
                <a16:creationId xmlns:a16="http://schemas.microsoft.com/office/drawing/2014/main" id="{DE00EDF9-979B-FC11-C7EA-382B6F304276}"/>
              </a:ext>
            </a:extLst>
          </p:cNvPr>
          <p:cNvSpPr txBox="1">
            <a:spLocks noGrp="1"/>
          </p:cNvSpPr>
          <p:nvPr/>
        </p:nvSpPr>
        <p:spPr>
          <a:xfrm>
            <a:off x="4165601" y="308317"/>
            <a:ext cx="7182141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r"/>
            <a:r>
              <a:rPr lang="ar-SY" dirty="0" smtClean="0">
                <a:solidFill>
                  <a:schemeClr val="bg2">
                    <a:lumMod val="65000"/>
                    <a:lumOff val="35000"/>
                  </a:schemeClr>
                </a:solidFill>
              </a:rPr>
              <a:t>خدمة إدارة كشف الأحداث</a:t>
            </a:r>
            <a:endParaRPr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مربع نص 13"/>
          <p:cNvSpPr txBox="1"/>
          <p:nvPr/>
        </p:nvSpPr>
        <p:spPr>
          <a:xfrm>
            <a:off x="3467212" y="1391075"/>
            <a:ext cx="7699551" cy="4983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SY" sz="2000" dirty="0" smtClean="0">
                <a:latin typeface="+mj-lt"/>
                <a:cs typeface="Times New Roman" panose="02020603050405020304" pitchFamily="18" charset="0"/>
              </a:rPr>
              <a:t>مهمة هذه الخدمة هي عنقدة دفق الرسائل لاستخلاص الأحداث</a:t>
            </a:r>
            <a:endParaRPr lang="en-US" sz="2000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11" name="صورة 10"/>
          <p:cNvPicPr/>
          <p:nvPr/>
        </p:nvPicPr>
        <p:blipFill>
          <a:blip r:embed="rId3"/>
          <a:stretch>
            <a:fillRect/>
          </a:stretch>
        </p:blipFill>
        <p:spPr>
          <a:xfrm>
            <a:off x="1298574" y="557981"/>
            <a:ext cx="3767201" cy="5072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073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3"/>
          <p:cNvSpPr txBox="1">
            <a:spLocks noGrp="1"/>
          </p:cNvSpPr>
          <p:nvPr>
            <p:ph type="sldNum" idx="12"/>
          </p:nvPr>
        </p:nvSpPr>
        <p:spPr>
          <a:xfrm>
            <a:off x="11347742" y="6346858"/>
            <a:ext cx="382295" cy="19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6" name="Google Shape;350;p43"/>
          <p:cNvSpPr txBox="1">
            <a:spLocks/>
          </p:cNvSpPr>
          <p:nvPr/>
        </p:nvSpPr>
        <p:spPr>
          <a:xfrm>
            <a:off x="4308475" y="6351503"/>
            <a:ext cx="4678209" cy="188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800" dirty="0" smtClean="0"/>
              <a:t>Event Detection and Monitoring in Social Media</a:t>
            </a:r>
            <a:endParaRPr lang="en-US" sz="1800" dirty="0"/>
          </a:p>
        </p:txBody>
      </p:sp>
      <p:sp>
        <p:nvSpPr>
          <p:cNvPr id="8" name="Google Shape;443;p40">
            <a:extLst>
              <a:ext uri="{FF2B5EF4-FFF2-40B4-BE49-F238E27FC236}">
                <a16:creationId xmlns:a16="http://schemas.microsoft.com/office/drawing/2014/main" id="{DE00EDF9-979B-FC11-C7EA-382B6F304276}"/>
              </a:ext>
            </a:extLst>
          </p:cNvPr>
          <p:cNvSpPr txBox="1">
            <a:spLocks noGrp="1"/>
          </p:cNvSpPr>
          <p:nvPr/>
        </p:nvSpPr>
        <p:spPr>
          <a:xfrm>
            <a:off x="580101" y="299081"/>
            <a:ext cx="7704000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Google Shape;443;p40">
            <a:extLst>
              <a:ext uri="{FF2B5EF4-FFF2-40B4-BE49-F238E27FC236}">
                <a16:creationId xmlns:a16="http://schemas.microsoft.com/office/drawing/2014/main" id="{DE00EDF9-979B-FC11-C7EA-382B6F304276}"/>
              </a:ext>
            </a:extLst>
          </p:cNvPr>
          <p:cNvSpPr txBox="1">
            <a:spLocks noGrp="1"/>
          </p:cNvSpPr>
          <p:nvPr/>
        </p:nvSpPr>
        <p:spPr>
          <a:xfrm>
            <a:off x="4165601" y="308317"/>
            <a:ext cx="7182141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r"/>
            <a:r>
              <a:rPr lang="ar-SY" dirty="0" smtClean="0">
                <a:solidFill>
                  <a:schemeClr val="bg2">
                    <a:lumMod val="65000"/>
                    <a:lumOff val="35000"/>
                  </a:schemeClr>
                </a:solidFill>
              </a:rPr>
              <a:t>خدمة الاستدلال على الموقع</a:t>
            </a:r>
            <a:endParaRPr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مربع نص 13"/>
          <p:cNvSpPr txBox="1"/>
          <p:nvPr/>
        </p:nvSpPr>
        <p:spPr>
          <a:xfrm>
            <a:off x="3467212" y="1391075"/>
            <a:ext cx="7699551" cy="958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SY" sz="2000" dirty="0" smtClean="0">
                <a:latin typeface="+mj-lt"/>
                <a:cs typeface="Times New Roman" panose="02020603050405020304" pitchFamily="18" charset="0"/>
              </a:rPr>
              <a:t>مهمة هذه الخدمة هي التعرف على الموقع المذكور</a:t>
            </a:r>
          </a:p>
          <a:p>
            <a:pPr marL="342900" indent="-34290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SY" sz="2000" dirty="0" smtClean="0">
                <a:latin typeface="+mj-lt"/>
                <a:cs typeface="Times New Roman" panose="02020603050405020304" pitchFamily="18" charset="0"/>
              </a:rPr>
              <a:t>تحديد الإحداثيات الجغرافية للحدث</a:t>
            </a:r>
            <a:endParaRPr lang="en-US" sz="2000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9" name="صورة 8"/>
          <p:cNvPicPr/>
          <p:nvPr/>
        </p:nvPicPr>
        <p:blipFill>
          <a:blip r:embed="rId3"/>
          <a:stretch>
            <a:fillRect/>
          </a:stretch>
        </p:blipFill>
        <p:spPr>
          <a:xfrm>
            <a:off x="1141285" y="1400311"/>
            <a:ext cx="3997643" cy="3828288"/>
          </a:xfrm>
          <a:prstGeom prst="rect">
            <a:avLst/>
          </a:prstGeom>
        </p:spPr>
      </p:pic>
      <p:pic>
        <p:nvPicPr>
          <p:cNvPr id="10" name="صورة 9"/>
          <p:cNvPicPr/>
          <p:nvPr/>
        </p:nvPicPr>
        <p:blipFill>
          <a:blip r:embed="rId4"/>
          <a:stretch>
            <a:fillRect/>
          </a:stretch>
        </p:blipFill>
        <p:spPr>
          <a:xfrm>
            <a:off x="5868943" y="2487041"/>
            <a:ext cx="3775456" cy="345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510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3"/>
          <p:cNvSpPr txBox="1">
            <a:spLocks noGrp="1"/>
          </p:cNvSpPr>
          <p:nvPr>
            <p:ph type="sldNum" idx="12"/>
          </p:nvPr>
        </p:nvSpPr>
        <p:spPr>
          <a:xfrm>
            <a:off x="11347742" y="6346858"/>
            <a:ext cx="382295" cy="19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6" name="Google Shape;350;p43"/>
          <p:cNvSpPr txBox="1">
            <a:spLocks/>
          </p:cNvSpPr>
          <p:nvPr/>
        </p:nvSpPr>
        <p:spPr>
          <a:xfrm>
            <a:off x="4308475" y="6351503"/>
            <a:ext cx="4678209" cy="188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800" dirty="0" smtClean="0"/>
              <a:t>Event Detection and Monitoring in Social Media</a:t>
            </a:r>
            <a:endParaRPr lang="en-US" sz="1800" dirty="0"/>
          </a:p>
        </p:txBody>
      </p:sp>
      <p:sp>
        <p:nvSpPr>
          <p:cNvPr id="8" name="Google Shape;443;p40">
            <a:extLst>
              <a:ext uri="{FF2B5EF4-FFF2-40B4-BE49-F238E27FC236}">
                <a16:creationId xmlns:a16="http://schemas.microsoft.com/office/drawing/2014/main" id="{DE00EDF9-979B-FC11-C7EA-382B6F304276}"/>
              </a:ext>
            </a:extLst>
          </p:cNvPr>
          <p:cNvSpPr txBox="1">
            <a:spLocks noGrp="1"/>
          </p:cNvSpPr>
          <p:nvPr/>
        </p:nvSpPr>
        <p:spPr>
          <a:xfrm>
            <a:off x="580101" y="299081"/>
            <a:ext cx="7704000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Google Shape;443;p40">
            <a:extLst>
              <a:ext uri="{FF2B5EF4-FFF2-40B4-BE49-F238E27FC236}">
                <a16:creationId xmlns:a16="http://schemas.microsoft.com/office/drawing/2014/main" id="{DE00EDF9-979B-FC11-C7EA-382B6F304276}"/>
              </a:ext>
            </a:extLst>
          </p:cNvPr>
          <p:cNvSpPr txBox="1">
            <a:spLocks noGrp="1"/>
          </p:cNvSpPr>
          <p:nvPr/>
        </p:nvSpPr>
        <p:spPr>
          <a:xfrm>
            <a:off x="4165601" y="308317"/>
            <a:ext cx="7182141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r"/>
            <a:r>
              <a:rPr lang="ar-SY" dirty="0" smtClean="0">
                <a:solidFill>
                  <a:schemeClr val="bg2">
                    <a:lumMod val="65000"/>
                    <a:lumOff val="35000"/>
                  </a:schemeClr>
                </a:solidFill>
              </a:rPr>
              <a:t>خدمة إدارة الأحداث</a:t>
            </a:r>
            <a:endParaRPr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مربع نص 13"/>
          <p:cNvSpPr txBox="1"/>
          <p:nvPr/>
        </p:nvSpPr>
        <p:spPr>
          <a:xfrm>
            <a:off x="3467212" y="1391075"/>
            <a:ext cx="7699551" cy="958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SY" sz="2000" dirty="0" smtClean="0">
                <a:latin typeface="+mj-lt"/>
                <a:cs typeface="Times New Roman" panose="02020603050405020304" pitchFamily="18" charset="0"/>
              </a:rPr>
              <a:t>مهمة هذه الخدمة هي تسجيل الأحداث</a:t>
            </a:r>
          </a:p>
          <a:p>
            <a:pPr marL="342900" indent="-34290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SY" sz="2000" dirty="0" smtClean="0">
                <a:latin typeface="+mj-lt"/>
                <a:cs typeface="Times New Roman" panose="02020603050405020304" pitchFamily="18" charset="0"/>
              </a:rPr>
              <a:t>الواجهة الخلفية الفعلية التي تخي تعقيد النظام</a:t>
            </a:r>
            <a:endParaRPr lang="en-US" sz="2000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11" name="صورة 10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722" y="1212976"/>
            <a:ext cx="4784980" cy="3605673"/>
          </a:xfrm>
          <a:prstGeom prst="rect">
            <a:avLst/>
          </a:prstGeom>
        </p:spPr>
      </p:pic>
      <p:pic>
        <p:nvPicPr>
          <p:cNvPr id="15" name="صورة 14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8240" y="2651823"/>
            <a:ext cx="4810824" cy="3044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295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3"/>
          <p:cNvSpPr txBox="1">
            <a:spLocks noGrp="1"/>
          </p:cNvSpPr>
          <p:nvPr>
            <p:ph type="sldNum" idx="12"/>
          </p:nvPr>
        </p:nvSpPr>
        <p:spPr>
          <a:xfrm>
            <a:off x="11347742" y="6346858"/>
            <a:ext cx="382295" cy="19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6" name="Google Shape;350;p43"/>
          <p:cNvSpPr txBox="1">
            <a:spLocks/>
          </p:cNvSpPr>
          <p:nvPr/>
        </p:nvSpPr>
        <p:spPr>
          <a:xfrm>
            <a:off x="4308475" y="6351503"/>
            <a:ext cx="4678209" cy="188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800" dirty="0" smtClean="0"/>
              <a:t>Event Detection and Monitoring in Social Media</a:t>
            </a:r>
            <a:endParaRPr lang="en-US" sz="1800" dirty="0"/>
          </a:p>
        </p:txBody>
      </p:sp>
      <p:sp>
        <p:nvSpPr>
          <p:cNvPr id="8" name="Google Shape;443;p40">
            <a:extLst>
              <a:ext uri="{FF2B5EF4-FFF2-40B4-BE49-F238E27FC236}">
                <a16:creationId xmlns:a16="http://schemas.microsoft.com/office/drawing/2014/main" id="{DE00EDF9-979B-FC11-C7EA-382B6F304276}"/>
              </a:ext>
            </a:extLst>
          </p:cNvPr>
          <p:cNvSpPr txBox="1">
            <a:spLocks noGrp="1"/>
          </p:cNvSpPr>
          <p:nvPr/>
        </p:nvSpPr>
        <p:spPr>
          <a:xfrm>
            <a:off x="580101" y="299081"/>
            <a:ext cx="7704000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Google Shape;443;p40">
            <a:extLst>
              <a:ext uri="{FF2B5EF4-FFF2-40B4-BE49-F238E27FC236}">
                <a16:creationId xmlns:a16="http://schemas.microsoft.com/office/drawing/2014/main" id="{DE00EDF9-979B-FC11-C7EA-382B6F304276}"/>
              </a:ext>
            </a:extLst>
          </p:cNvPr>
          <p:cNvSpPr txBox="1">
            <a:spLocks noGrp="1"/>
          </p:cNvSpPr>
          <p:nvPr/>
        </p:nvSpPr>
        <p:spPr>
          <a:xfrm>
            <a:off x="4165601" y="308317"/>
            <a:ext cx="7182141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r"/>
            <a:r>
              <a:rPr lang="ar-SY" dirty="0" smtClean="0">
                <a:solidFill>
                  <a:schemeClr val="bg2">
                    <a:lumMod val="65000"/>
                    <a:lumOff val="35000"/>
                  </a:schemeClr>
                </a:solidFill>
              </a:rPr>
              <a:t>خدمة إدارة الأحداث</a:t>
            </a:r>
            <a:endParaRPr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مربع نص 13"/>
          <p:cNvSpPr txBox="1"/>
          <p:nvPr/>
        </p:nvSpPr>
        <p:spPr>
          <a:xfrm>
            <a:off x="3467212" y="1391075"/>
            <a:ext cx="7699551" cy="958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SY" sz="2000" dirty="0" smtClean="0">
                <a:latin typeface="+mj-lt"/>
                <a:cs typeface="Times New Roman" panose="02020603050405020304" pitchFamily="18" charset="0"/>
              </a:rPr>
              <a:t>مهمة هذه الخدمة هي تسجيل الأحداث</a:t>
            </a:r>
          </a:p>
          <a:p>
            <a:pPr marL="342900" indent="-34290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SY" sz="2000" dirty="0" smtClean="0">
                <a:latin typeface="+mj-lt"/>
                <a:cs typeface="Times New Roman" panose="02020603050405020304" pitchFamily="18" charset="0"/>
              </a:rPr>
              <a:t>الواجهة الخلفية الفعلية التي تخي تعقيد النظام</a:t>
            </a:r>
            <a:endParaRPr lang="en-US" sz="2000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9" name="صورة 8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5434" y="923832"/>
            <a:ext cx="8127093" cy="51660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35909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3"/>
          <p:cNvSpPr txBox="1">
            <a:spLocks noGrp="1"/>
          </p:cNvSpPr>
          <p:nvPr>
            <p:ph type="sldNum" idx="12"/>
          </p:nvPr>
        </p:nvSpPr>
        <p:spPr>
          <a:xfrm>
            <a:off x="11347742" y="6346858"/>
            <a:ext cx="382295" cy="19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6" name="Google Shape;350;p43"/>
          <p:cNvSpPr txBox="1">
            <a:spLocks/>
          </p:cNvSpPr>
          <p:nvPr/>
        </p:nvSpPr>
        <p:spPr>
          <a:xfrm>
            <a:off x="4308475" y="6351503"/>
            <a:ext cx="4678209" cy="188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800" dirty="0" smtClean="0"/>
              <a:t>Event Detection and Monitoring in Social Media</a:t>
            </a:r>
            <a:endParaRPr lang="en-US" sz="1800" dirty="0"/>
          </a:p>
        </p:txBody>
      </p:sp>
      <p:sp>
        <p:nvSpPr>
          <p:cNvPr id="8" name="Google Shape;443;p40">
            <a:extLst>
              <a:ext uri="{FF2B5EF4-FFF2-40B4-BE49-F238E27FC236}">
                <a16:creationId xmlns:a16="http://schemas.microsoft.com/office/drawing/2014/main" id="{DE00EDF9-979B-FC11-C7EA-382B6F304276}"/>
              </a:ext>
            </a:extLst>
          </p:cNvPr>
          <p:cNvSpPr txBox="1">
            <a:spLocks noGrp="1"/>
          </p:cNvSpPr>
          <p:nvPr/>
        </p:nvSpPr>
        <p:spPr>
          <a:xfrm>
            <a:off x="580101" y="299081"/>
            <a:ext cx="7704000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Google Shape;443;p40">
            <a:extLst>
              <a:ext uri="{FF2B5EF4-FFF2-40B4-BE49-F238E27FC236}">
                <a16:creationId xmlns:a16="http://schemas.microsoft.com/office/drawing/2014/main" id="{DE00EDF9-979B-FC11-C7EA-382B6F304276}"/>
              </a:ext>
            </a:extLst>
          </p:cNvPr>
          <p:cNvSpPr txBox="1">
            <a:spLocks noGrp="1"/>
          </p:cNvSpPr>
          <p:nvPr/>
        </p:nvSpPr>
        <p:spPr>
          <a:xfrm>
            <a:off x="4165601" y="308317"/>
            <a:ext cx="7182141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r"/>
            <a:r>
              <a:rPr lang="ar-SY" dirty="0" smtClean="0">
                <a:solidFill>
                  <a:schemeClr val="bg2">
                    <a:lumMod val="65000"/>
                    <a:lumOff val="35000"/>
                  </a:schemeClr>
                </a:solidFill>
              </a:rPr>
              <a:t>خدمة الهوية</a:t>
            </a:r>
            <a:endParaRPr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مربع نص 13"/>
          <p:cNvSpPr txBox="1"/>
          <p:nvPr/>
        </p:nvSpPr>
        <p:spPr>
          <a:xfrm>
            <a:off x="3467212" y="1391075"/>
            <a:ext cx="7699551" cy="4983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SY" sz="2000" dirty="0" smtClean="0">
                <a:latin typeface="+mj-lt"/>
                <a:cs typeface="Times New Roman" panose="02020603050405020304" pitchFamily="18" charset="0"/>
              </a:rPr>
              <a:t>مهمة هذه الخدمة هي إدارة المستخدمين وصلاحياتهم</a:t>
            </a:r>
            <a:endParaRPr lang="en-US" sz="2000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9" name="صورة 8"/>
          <p:cNvPicPr/>
          <p:nvPr/>
        </p:nvPicPr>
        <p:blipFill>
          <a:blip r:embed="rId3"/>
          <a:stretch>
            <a:fillRect/>
          </a:stretch>
        </p:blipFill>
        <p:spPr>
          <a:xfrm>
            <a:off x="1493646" y="985900"/>
            <a:ext cx="4660265" cy="431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600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3"/>
          <p:cNvSpPr txBox="1">
            <a:spLocks noGrp="1"/>
          </p:cNvSpPr>
          <p:nvPr>
            <p:ph type="sldNum" idx="12"/>
          </p:nvPr>
        </p:nvSpPr>
        <p:spPr>
          <a:xfrm>
            <a:off x="11347742" y="6346858"/>
            <a:ext cx="382295" cy="19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6" name="Google Shape;350;p43"/>
          <p:cNvSpPr txBox="1">
            <a:spLocks/>
          </p:cNvSpPr>
          <p:nvPr/>
        </p:nvSpPr>
        <p:spPr>
          <a:xfrm>
            <a:off x="4308475" y="6351503"/>
            <a:ext cx="4678209" cy="188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800" dirty="0" smtClean="0"/>
              <a:t>Event Detection and Monitoring in Social Media</a:t>
            </a:r>
            <a:endParaRPr lang="en-US" sz="1800" dirty="0"/>
          </a:p>
        </p:txBody>
      </p:sp>
      <p:sp>
        <p:nvSpPr>
          <p:cNvPr id="8" name="Google Shape;443;p40">
            <a:extLst>
              <a:ext uri="{FF2B5EF4-FFF2-40B4-BE49-F238E27FC236}">
                <a16:creationId xmlns:a16="http://schemas.microsoft.com/office/drawing/2014/main" id="{DE00EDF9-979B-FC11-C7EA-382B6F304276}"/>
              </a:ext>
            </a:extLst>
          </p:cNvPr>
          <p:cNvSpPr txBox="1">
            <a:spLocks noGrp="1"/>
          </p:cNvSpPr>
          <p:nvPr/>
        </p:nvSpPr>
        <p:spPr>
          <a:xfrm>
            <a:off x="580101" y="299081"/>
            <a:ext cx="7704000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Google Shape;443;p40">
            <a:extLst>
              <a:ext uri="{FF2B5EF4-FFF2-40B4-BE49-F238E27FC236}">
                <a16:creationId xmlns:a16="http://schemas.microsoft.com/office/drawing/2014/main" id="{DE00EDF9-979B-FC11-C7EA-382B6F304276}"/>
              </a:ext>
            </a:extLst>
          </p:cNvPr>
          <p:cNvSpPr txBox="1">
            <a:spLocks noGrp="1"/>
          </p:cNvSpPr>
          <p:nvPr/>
        </p:nvSpPr>
        <p:spPr>
          <a:xfrm>
            <a:off x="4165601" y="308317"/>
            <a:ext cx="7182141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r"/>
            <a:r>
              <a:rPr lang="ar-SY" dirty="0" smtClean="0">
                <a:solidFill>
                  <a:schemeClr val="bg2">
                    <a:lumMod val="65000"/>
                    <a:lumOff val="35000"/>
                  </a:schemeClr>
                </a:solidFill>
              </a:rPr>
              <a:t>خدمة استخراج الكيانات المسماة</a:t>
            </a:r>
            <a:endParaRPr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مربع نص 13"/>
          <p:cNvSpPr txBox="1"/>
          <p:nvPr/>
        </p:nvSpPr>
        <p:spPr>
          <a:xfrm>
            <a:off x="3467212" y="1391075"/>
            <a:ext cx="7699551" cy="4983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SY" sz="2000" dirty="0" smtClean="0">
                <a:latin typeface="+mj-lt"/>
                <a:cs typeface="Times New Roman" panose="02020603050405020304" pitchFamily="18" charset="0"/>
              </a:rPr>
              <a:t>مهمة هذه الخدمة استخلاص الكيانات المذكورة في الحدث</a:t>
            </a:r>
            <a:endParaRPr lang="en-US" sz="2000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10" name="صورة 9"/>
          <p:cNvPicPr/>
          <p:nvPr/>
        </p:nvPicPr>
        <p:blipFill>
          <a:blip r:embed="rId3"/>
          <a:stretch>
            <a:fillRect/>
          </a:stretch>
        </p:blipFill>
        <p:spPr>
          <a:xfrm>
            <a:off x="1395619" y="1488461"/>
            <a:ext cx="4143185" cy="3790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293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3"/>
          <p:cNvSpPr txBox="1">
            <a:spLocks noGrp="1"/>
          </p:cNvSpPr>
          <p:nvPr>
            <p:ph type="sldNum" idx="12"/>
          </p:nvPr>
        </p:nvSpPr>
        <p:spPr>
          <a:xfrm>
            <a:off x="11347742" y="6346858"/>
            <a:ext cx="382295" cy="19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6" name="Google Shape;350;p43"/>
          <p:cNvSpPr txBox="1">
            <a:spLocks/>
          </p:cNvSpPr>
          <p:nvPr/>
        </p:nvSpPr>
        <p:spPr>
          <a:xfrm>
            <a:off x="4308475" y="6351503"/>
            <a:ext cx="4678209" cy="188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800" dirty="0" smtClean="0"/>
              <a:t>Event Detection and Monitoring in Social Media</a:t>
            </a:r>
            <a:endParaRPr lang="en-US" sz="1800" dirty="0"/>
          </a:p>
        </p:txBody>
      </p:sp>
      <p:sp>
        <p:nvSpPr>
          <p:cNvPr id="8" name="Google Shape;443;p40">
            <a:extLst>
              <a:ext uri="{FF2B5EF4-FFF2-40B4-BE49-F238E27FC236}">
                <a16:creationId xmlns:a16="http://schemas.microsoft.com/office/drawing/2014/main" id="{DE00EDF9-979B-FC11-C7EA-382B6F304276}"/>
              </a:ext>
            </a:extLst>
          </p:cNvPr>
          <p:cNvSpPr txBox="1">
            <a:spLocks noGrp="1"/>
          </p:cNvSpPr>
          <p:nvPr/>
        </p:nvSpPr>
        <p:spPr>
          <a:xfrm>
            <a:off x="580101" y="299081"/>
            <a:ext cx="7704000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Google Shape;443;p40">
            <a:extLst>
              <a:ext uri="{FF2B5EF4-FFF2-40B4-BE49-F238E27FC236}">
                <a16:creationId xmlns:a16="http://schemas.microsoft.com/office/drawing/2014/main" id="{DE00EDF9-979B-FC11-C7EA-382B6F304276}"/>
              </a:ext>
            </a:extLst>
          </p:cNvPr>
          <p:cNvSpPr txBox="1">
            <a:spLocks noGrp="1"/>
          </p:cNvSpPr>
          <p:nvPr/>
        </p:nvSpPr>
        <p:spPr>
          <a:xfrm>
            <a:off x="4165601" y="308317"/>
            <a:ext cx="7182141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r"/>
            <a:r>
              <a:rPr lang="ar-SY" dirty="0" smtClean="0">
                <a:solidFill>
                  <a:schemeClr val="bg2">
                    <a:lumMod val="65000"/>
                    <a:lumOff val="35000"/>
                  </a:schemeClr>
                </a:solidFill>
              </a:rPr>
              <a:t>مشروع النواة المشتركة</a:t>
            </a:r>
            <a:endParaRPr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9" name="صورة 8"/>
          <p:cNvPicPr/>
          <p:nvPr/>
        </p:nvPicPr>
        <p:blipFill>
          <a:blip r:embed="rId3"/>
          <a:stretch>
            <a:fillRect/>
          </a:stretch>
        </p:blipFill>
        <p:spPr>
          <a:xfrm>
            <a:off x="2514790" y="1521566"/>
            <a:ext cx="7031546" cy="411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292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3"/>
          <p:cNvSpPr txBox="1">
            <a:spLocks noGrp="1"/>
          </p:cNvSpPr>
          <p:nvPr>
            <p:ph type="sldNum" idx="12"/>
          </p:nvPr>
        </p:nvSpPr>
        <p:spPr>
          <a:xfrm>
            <a:off x="11347742" y="6346858"/>
            <a:ext cx="382295" cy="19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6" name="Google Shape;350;p43"/>
          <p:cNvSpPr txBox="1">
            <a:spLocks/>
          </p:cNvSpPr>
          <p:nvPr/>
        </p:nvSpPr>
        <p:spPr>
          <a:xfrm>
            <a:off x="4308475" y="6351503"/>
            <a:ext cx="4678209" cy="188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800" dirty="0" smtClean="0"/>
              <a:t>Event Detection and Monitoring in Social Media</a:t>
            </a:r>
            <a:endParaRPr lang="en-US" sz="1800" dirty="0"/>
          </a:p>
        </p:txBody>
      </p:sp>
      <p:sp>
        <p:nvSpPr>
          <p:cNvPr id="8" name="Google Shape;443;p40">
            <a:extLst>
              <a:ext uri="{FF2B5EF4-FFF2-40B4-BE49-F238E27FC236}">
                <a16:creationId xmlns:a16="http://schemas.microsoft.com/office/drawing/2014/main" id="{DE00EDF9-979B-FC11-C7EA-382B6F304276}"/>
              </a:ext>
            </a:extLst>
          </p:cNvPr>
          <p:cNvSpPr txBox="1">
            <a:spLocks noGrp="1"/>
          </p:cNvSpPr>
          <p:nvPr/>
        </p:nvSpPr>
        <p:spPr>
          <a:xfrm>
            <a:off x="580101" y="299081"/>
            <a:ext cx="7704000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Google Shape;443;p40">
            <a:extLst>
              <a:ext uri="{FF2B5EF4-FFF2-40B4-BE49-F238E27FC236}">
                <a16:creationId xmlns:a16="http://schemas.microsoft.com/office/drawing/2014/main" id="{DE00EDF9-979B-FC11-C7EA-382B6F304276}"/>
              </a:ext>
            </a:extLst>
          </p:cNvPr>
          <p:cNvSpPr txBox="1">
            <a:spLocks noGrp="1"/>
          </p:cNvSpPr>
          <p:nvPr/>
        </p:nvSpPr>
        <p:spPr>
          <a:xfrm>
            <a:off x="4165601" y="308317"/>
            <a:ext cx="7182141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r"/>
            <a:r>
              <a:rPr lang="ar-SY" dirty="0" smtClean="0">
                <a:solidFill>
                  <a:schemeClr val="bg2">
                    <a:lumMod val="65000"/>
                    <a:lumOff val="35000"/>
                  </a:schemeClr>
                </a:solidFill>
              </a:rPr>
              <a:t>مخطط النظام النهائي</a:t>
            </a:r>
            <a:endParaRPr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0" name="صورة 9" descr="D:\SAS\SAS.GPDocs\Methodology\System Architecture-Page-15.drawio.p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1048" y="530641"/>
            <a:ext cx="5151120" cy="55318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33661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3"/>
          <p:cNvSpPr txBox="1">
            <a:spLocks noGrp="1"/>
          </p:cNvSpPr>
          <p:nvPr>
            <p:ph type="sldNum" idx="12"/>
          </p:nvPr>
        </p:nvSpPr>
        <p:spPr>
          <a:xfrm>
            <a:off x="11347742" y="6346858"/>
            <a:ext cx="382295" cy="19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6" name="Google Shape;350;p43"/>
          <p:cNvSpPr txBox="1">
            <a:spLocks/>
          </p:cNvSpPr>
          <p:nvPr/>
        </p:nvSpPr>
        <p:spPr>
          <a:xfrm>
            <a:off x="4308475" y="6351503"/>
            <a:ext cx="4678209" cy="188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800" dirty="0" smtClean="0"/>
              <a:t>Event Detection and Monitoring in Social Media</a:t>
            </a:r>
            <a:endParaRPr lang="en-US" sz="1800" dirty="0"/>
          </a:p>
        </p:txBody>
      </p:sp>
      <p:sp>
        <p:nvSpPr>
          <p:cNvPr id="8" name="Google Shape;443;p40">
            <a:extLst>
              <a:ext uri="{FF2B5EF4-FFF2-40B4-BE49-F238E27FC236}">
                <a16:creationId xmlns:a16="http://schemas.microsoft.com/office/drawing/2014/main" id="{DE00EDF9-979B-FC11-C7EA-382B6F304276}"/>
              </a:ext>
            </a:extLst>
          </p:cNvPr>
          <p:cNvSpPr txBox="1">
            <a:spLocks noGrp="1"/>
          </p:cNvSpPr>
          <p:nvPr/>
        </p:nvSpPr>
        <p:spPr>
          <a:xfrm>
            <a:off x="580101" y="299081"/>
            <a:ext cx="7704000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Google Shape;443;p40">
            <a:extLst>
              <a:ext uri="{FF2B5EF4-FFF2-40B4-BE49-F238E27FC236}">
                <a16:creationId xmlns:a16="http://schemas.microsoft.com/office/drawing/2014/main" id="{DE00EDF9-979B-FC11-C7EA-382B6F304276}"/>
              </a:ext>
            </a:extLst>
          </p:cNvPr>
          <p:cNvSpPr txBox="1">
            <a:spLocks noGrp="1"/>
          </p:cNvSpPr>
          <p:nvPr/>
        </p:nvSpPr>
        <p:spPr>
          <a:xfrm>
            <a:off x="4165601" y="308317"/>
            <a:ext cx="7182141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r"/>
            <a:r>
              <a:rPr lang="ar-SY" dirty="0" smtClean="0">
                <a:solidFill>
                  <a:schemeClr val="bg2">
                    <a:lumMod val="65000"/>
                    <a:lumOff val="35000"/>
                  </a:schemeClr>
                </a:solidFill>
              </a:rPr>
              <a:t>اختبارات الوحدة والتكامل</a:t>
            </a:r>
            <a:endParaRPr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9" name="صورة 8"/>
          <p:cNvPicPr/>
          <p:nvPr/>
        </p:nvPicPr>
        <p:blipFill>
          <a:blip r:embed="rId3"/>
          <a:stretch>
            <a:fillRect/>
          </a:stretch>
        </p:blipFill>
        <p:spPr>
          <a:xfrm>
            <a:off x="2502408" y="1527556"/>
            <a:ext cx="7290816" cy="3163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362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3"/>
          <p:cNvSpPr txBox="1">
            <a:spLocks noGrp="1"/>
          </p:cNvSpPr>
          <p:nvPr>
            <p:ph type="sldNum" idx="12"/>
          </p:nvPr>
        </p:nvSpPr>
        <p:spPr>
          <a:xfrm>
            <a:off x="11347742" y="6346858"/>
            <a:ext cx="382295" cy="19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6" name="Google Shape;350;p43"/>
          <p:cNvSpPr txBox="1">
            <a:spLocks/>
          </p:cNvSpPr>
          <p:nvPr/>
        </p:nvSpPr>
        <p:spPr>
          <a:xfrm>
            <a:off x="4308475" y="6351503"/>
            <a:ext cx="4678209" cy="188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800" dirty="0" smtClean="0"/>
              <a:t>Event Detection and Monitoring in Social Media</a:t>
            </a:r>
            <a:endParaRPr lang="en-US" sz="1800" dirty="0"/>
          </a:p>
        </p:txBody>
      </p:sp>
      <p:sp>
        <p:nvSpPr>
          <p:cNvPr id="8" name="Google Shape;443;p40">
            <a:extLst>
              <a:ext uri="{FF2B5EF4-FFF2-40B4-BE49-F238E27FC236}">
                <a16:creationId xmlns:a16="http://schemas.microsoft.com/office/drawing/2014/main" id="{DE00EDF9-979B-FC11-C7EA-382B6F304276}"/>
              </a:ext>
            </a:extLst>
          </p:cNvPr>
          <p:cNvSpPr txBox="1">
            <a:spLocks noGrp="1"/>
          </p:cNvSpPr>
          <p:nvPr/>
        </p:nvSpPr>
        <p:spPr>
          <a:xfrm>
            <a:off x="580101" y="299081"/>
            <a:ext cx="7704000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Google Shape;443;p40">
            <a:extLst>
              <a:ext uri="{FF2B5EF4-FFF2-40B4-BE49-F238E27FC236}">
                <a16:creationId xmlns:a16="http://schemas.microsoft.com/office/drawing/2014/main" id="{DE00EDF9-979B-FC11-C7EA-382B6F304276}"/>
              </a:ext>
            </a:extLst>
          </p:cNvPr>
          <p:cNvSpPr txBox="1">
            <a:spLocks noGrp="1"/>
          </p:cNvSpPr>
          <p:nvPr/>
        </p:nvSpPr>
        <p:spPr>
          <a:xfrm>
            <a:off x="4165601" y="308317"/>
            <a:ext cx="7182141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r"/>
            <a:r>
              <a:rPr lang="ar-SY" dirty="0" smtClean="0">
                <a:solidFill>
                  <a:schemeClr val="bg2">
                    <a:lumMod val="65000"/>
                    <a:lumOff val="35000"/>
                  </a:schemeClr>
                </a:solidFill>
              </a:rPr>
              <a:t>خطوط الأنابيب</a:t>
            </a:r>
            <a:endParaRPr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0" name="صورة 9"/>
          <p:cNvPicPr/>
          <p:nvPr/>
        </p:nvPicPr>
        <p:blipFill>
          <a:blip r:embed="rId3"/>
          <a:stretch>
            <a:fillRect/>
          </a:stretch>
        </p:blipFill>
        <p:spPr>
          <a:xfrm>
            <a:off x="2136648" y="1325308"/>
            <a:ext cx="8305800" cy="425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477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3"/>
          <p:cNvSpPr txBox="1">
            <a:spLocks noGrp="1"/>
          </p:cNvSpPr>
          <p:nvPr>
            <p:ph type="sldNum" idx="12"/>
          </p:nvPr>
        </p:nvSpPr>
        <p:spPr>
          <a:xfrm>
            <a:off x="11347742" y="6346858"/>
            <a:ext cx="382295" cy="19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sp>
        <p:nvSpPr>
          <p:cNvPr id="6" name="Google Shape;350;p43"/>
          <p:cNvSpPr txBox="1">
            <a:spLocks/>
          </p:cNvSpPr>
          <p:nvPr/>
        </p:nvSpPr>
        <p:spPr>
          <a:xfrm>
            <a:off x="4308475" y="6351503"/>
            <a:ext cx="4678209" cy="188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800" dirty="0" smtClean="0"/>
              <a:t>Event Detection and Monitoring in Social Media</a:t>
            </a:r>
            <a:endParaRPr lang="en-US" sz="1800" dirty="0"/>
          </a:p>
        </p:txBody>
      </p:sp>
      <p:sp>
        <p:nvSpPr>
          <p:cNvPr id="8" name="Google Shape;443;p40">
            <a:extLst>
              <a:ext uri="{FF2B5EF4-FFF2-40B4-BE49-F238E27FC236}">
                <a16:creationId xmlns:a16="http://schemas.microsoft.com/office/drawing/2014/main" id="{DE00EDF9-979B-FC11-C7EA-382B6F304276}"/>
              </a:ext>
            </a:extLst>
          </p:cNvPr>
          <p:cNvSpPr txBox="1">
            <a:spLocks noGrp="1"/>
          </p:cNvSpPr>
          <p:nvPr/>
        </p:nvSpPr>
        <p:spPr>
          <a:xfrm>
            <a:off x="580101" y="299081"/>
            <a:ext cx="7704000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Google Shape;443;p40">
            <a:extLst>
              <a:ext uri="{FF2B5EF4-FFF2-40B4-BE49-F238E27FC236}">
                <a16:creationId xmlns:a16="http://schemas.microsoft.com/office/drawing/2014/main" id="{DE00EDF9-979B-FC11-C7EA-382B6F304276}"/>
              </a:ext>
            </a:extLst>
          </p:cNvPr>
          <p:cNvSpPr txBox="1">
            <a:spLocks noGrp="1"/>
          </p:cNvSpPr>
          <p:nvPr/>
        </p:nvSpPr>
        <p:spPr>
          <a:xfrm>
            <a:off x="4165601" y="308317"/>
            <a:ext cx="7182141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r"/>
            <a:r>
              <a:rPr lang="ar-SY" dirty="0" smtClean="0">
                <a:solidFill>
                  <a:schemeClr val="bg2">
                    <a:lumMod val="65000"/>
                    <a:lumOff val="35000"/>
                  </a:schemeClr>
                </a:solidFill>
              </a:rPr>
              <a:t>اختبارات الحمل والضغط</a:t>
            </a:r>
            <a:endParaRPr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9" name="صورة 8"/>
          <p:cNvPicPr/>
          <p:nvPr/>
        </p:nvPicPr>
        <p:blipFill>
          <a:blip r:embed="rId3"/>
          <a:stretch>
            <a:fillRect/>
          </a:stretch>
        </p:blipFill>
        <p:spPr>
          <a:xfrm>
            <a:off x="3215766" y="1625282"/>
            <a:ext cx="6842633" cy="3897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794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مستطيل 6"/>
          <p:cNvSpPr/>
          <p:nvPr/>
        </p:nvSpPr>
        <p:spPr>
          <a:xfrm>
            <a:off x="1" y="2074605"/>
            <a:ext cx="12192000" cy="22712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Y" sz="4000" dirty="0" smtClean="0"/>
              <a:t>شكراً لإصغائكم!</a:t>
            </a:r>
            <a:endParaRPr lang="en-US" sz="4000" dirty="0"/>
          </a:p>
        </p:txBody>
      </p:sp>
      <p:sp>
        <p:nvSpPr>
          <p:cNvPr id="5" name="Google Shape;350;p43"/>
          <p:cNvSpPr txBox="1">
            <a:spLocks/>
          </p:cNvSpPr>
          <p:nvPr/>
        </p:nvSpPr>
        <p:spPr>
          <a:xfrm>
            <a:off x="4308475" y="6351503"/>
            <a:ext cx="4678209" cy="188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800" dirty="0" smtClean="0"/>
              <a:t>Event Detection and Monitoring in Social Media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0741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tanford Medicine">
  <a:themeElements>
    <a:clrScheme name="Stanford Medicine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CC3719"/>
      </a:accent1>
      <a:accent2>
        <a:srgbClr val="5F574F"/>
      </a:accent2>
      <a:accent3>
        <a:srgbClr val="7F7776"/>
      </a:accent3>
      <a:accent4>
        <a:srgbClr val="DAD7CB"/>
      </a:accent4>
      <a:accent5>
        <a:srgbClr val="E9E8E6"/>
      </a:accent5>
      <a:accent6>
        <a:srgbClr val="F8F7F5"/>
      </a:accent6>
      <a:hlink>
        <a:srgbClr val="0563C1"/>
      </a:hlink>
      <a:folHlink>
        <a:srgbClr val="954F7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nstructions (reference only)">
  <a:themeElements>
    <a:clrScheme name="Stanford Medicine2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8C1515"/>
      </a:accent1>
      <a:accent2>
        <a:srgbClr val="5F574F"/>
      </a:accent2>
      <a:accent3>
        <a:srgbClr val="7F7776"/>
      </a:accent3>
      <a:accent4>
        <a:srgbClr val="DAD7CB"/>
      </a:accent4>
      <a:accent5>
        <a:srgbClr val="000000"/>
      </a:accent5>
      <a:accent6>
        <a:srgbClr val="FFFFFF"/>
      </a:accent6>
      <a:hlink>
        <a:srgbClr val="0563C1"/>
      </a:hlink>
      <a:folHlink>
        <a:srgbClr val="954F7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2139</TotalTime>
  <Words>579</Words>
  <Application>Microsoft Office PowerPoint</Application>
  <PresentationFormat>شاشة عريضة</PresentationFormat>
  <Paragraphs>144</Paragraphs>
  <Slides>32</Slides>
  <Notes>31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7</vt:i4>
      </vt:variant>
      <vt:variant>
        <vt:lpstr>نسق</vt:lpstr>
      </vt:variant>
      <vt:variant>
        <vt:i4>2</vt:i4>
      </vt:variant>
      <vt:variant>
        <vt:lpstr>عناوين الشرائح</vt:lpstr>
      </vt:variant>
      <vt:variant>
        <vt:i4>32</vt:i4>
      </vt:variant>
    </vt:vector>
  </HeadingPairs>
  <TitlesOfParts>
    <vt:vector size="41" baseType="lpstr">
      <vt:lpstr>Arial</vt:lpstr>
      <vt:lpstr>NTR</vt:lpstr>
      <vt:lpstr>Libre Franklin</vt:lpstr>
      <vt:lpstr>Calibri</vt:lpstr>
      <vt:lpstr>Poppins</vt:lpstr>
      <vt:lpstr>Wingdings</vt:lpstr>
      <vt:lpstr>Times New Roman</vt:lpstr>
      <vt:lpstr>Stanford Medicine</vt:lpstr>
      <vt:lpstr>Instructions (reference only)</vt:lpstr>
      <vt:lpstr>كشف الأحداث ومراقبتها في وسائل التواصل الاجتماعي اعتمادً على تقنيات التعلم العميق 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Query Expansion for Information Retrieval </dc:title>
  <cp:lastModifiedBy>Maher</cp:lastModifiedBy>
  <cp:revision>92</cp:revision>
  <dcterms:modified xsi:type="dcterms:W3CDTF">2025-07-30T20:09:10Z</dcterms:modified>
</cp:coreProperties>
</file>